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256" r:id="rId2"/>
    <p:sldId id="264" r:id="rId3"/>
    <p:sldId id="289" r:id="rId4"/>
    <p:sldId id="269" r:id="rId5"/>
    <p:sldId id="272" r:id="rId6"/>
    <p:sldId id="276" r:id="rId7"/>
    <p:sldId id="277" r:id="rId8"/>
    <p:sldId id="278" r:id="rId9"/>
    <p:sldId id="280" r:id="rId10"/>
    <p:sldId id="322" r:id="rId11"/>
    <p:sldId id="284" r:id="rId12"/>
    <p:sldId id="319" r:id="rId13"/>
    <p:sldId id="281" r:id="rId14"/>
    <p:sldId id="285" r:id="rId15"/>
    <p:sldId id="320" r:id="rId16"/>
    <p:sldId id="286" r:id="rId17"/>
    <p:sldId id="321" r:id="rId18"/>
    <p:sldId id="287" r:id="rId19"/>
    <p:sldId id="288" r:id="rId20"/>
    <p:sldId id="318" r:id="rId21"/>
  </p:sldIdLst>
  <p:sldSz cx="9144000" cy="6858000" type="screen4x3"/>
  <p:notesSz cx="6797675" cy="9872663"/>
  <p:defaultTextStyle>
    <a:defPPr>
      <a:defRPr lang="ca-E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 " initials="M" lastIdx="1" clrIdx="0">
    <p:extLst>
      <p:ext uri="{19B8F6BF-5375-455C-9EA6-DF929625EA0E}">
        <p15:presenceInfo xmlns:p15="http://schemas.microsoft.com/office/powerpoint/2012/main" userId="b174e583b4ed5b0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99" autoAdjust="0"/>
    <p:restoredTop sz="94717" autoAdjust="0"/>
  </p:normalViewPr>
  <p:slideViewPr>
    <p:cSldViewPr>
      <p:cViewPr varScale="1">
        <p:scale>
          <a:sx n="78" d="100"/>
          <a:sy n="78" d="100"/>
        </p:scale>
        <p:origin x="1517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F:\Tramuntana\Dades_Mar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'Hist Model'!$AI$1</c:f>
              <c:strCache>
                <c:ptCount val="1"/>
                <c:pt idx="0">
                  <c:v>ACCESS1_3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/>
          </c:spPr>
          <c:invertIfNegative val="0"/>
          <c:val>
            <c:numRef>
              <c:f>'Hist Model'!$AI$2:$AI$13</c:f>
              <c:numCache>
                <c:formatCode>General</c:formatCode>
                <c:ptCount val="12"/>
                <c:pt idx="0">
                  <c:v>35</c:v>
                </c:pt>
                <c:pt idx="1">
                  <c:v>22</c:v>
                </c:pt>
                <c:pt idx="2">
                  <c:v>19</c:v>
                </c:pt>
                <c:pt idx="3">
                  <c:v>13</c:v>
                </c:pt>
                <c:pt idx="4">
                  <c:v>4</c:v>
                </c:pt>
                <c:pt idx="5">
                  <c:v>0</c:v>
                </c:pt>
                <c:pt idx="6">
                  <c:v>3</c:v>
                </c:pt>
                <c:pt idx="7">
                  <c:v>4</c:v>
                </c:pt>
                <c:pt idx="8">
                  <c:v>9</c:v>
                </c:pt>
                <c:pt idx="9">
                  <c:v>16</c:v>
                </c:pt>
                <c:pt idx="10">
                  <c:v>21</c:v>
                </c:pt>
                <c:pt idx="11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8D-496D-BD73-859CAEC5BB14}"/>
            </c:ext>
          </c:extLst>
        </c:ser>
        <c:ser>
          <c:idx val="1"/>
          <c:order val="1"/>
          <c:tx>
            <c:strRef>
              <c:f>'Hist Model'!$AJ$1</c:f>
              <c:strCache>
                <c:ptCount val="1"/>
                <c:pt idx="0">
                  <c:v>BNU-ESM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  <a:effectLst/>
          </c:spPr>
          <c:invertIfNegative val="0"/>
          <c:val>
            <c:numRef>
              <c:f>'Hist Model'!$AJ$2:$AJ$13</c:f>
              <c:numCache>
                <c:formatCode>General</c:formatCode>
                <c:ptCount val="12"/>
                <c:pt idx="0">
                  <c:v>34</c:v>
                </c:pt>
                <c:pt idx="1">
                  <c:v>19</c:v>
                </c:pt>
                <c:pt idx="2">
                  <c:v>21</c:v>
                </c:pt>
                <c:pt idx="3">
                  <c:v>13</c:v>
                </c:pt>
                <c:pt idx="4">
                  <c:v>4</c:v>
                </c:pt>
                <c:pt idx="5">
                  <c:v>3</c:v>
                </c:pt>
                <c:pt idx="6">
                  <c:v>1</c:v>
                </c:pt>
                <c:pt idx="7">
                  <c:v>0</c:v>
                </c:pt>
                <c:pt idx="8">
                  <c:v>2</c:v>
                </c:pt>
                <c:pt idx="9">
                  <c:v>8</c:v>
                </c:pt>
                <c:pt idx="10">
                  <c:v>25</c:v>
                </c:pt>
                <c:pt idx="11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68D-496D-BD73-859CAEC5BB14}"/>
            </c:ext>
          </c:extLst>
        </c:ser>
        <c:ser>
          <c:idx val="2"/>
          <c:order val="2"/>
          <c:tx>
            <c:strRef>
              <c:f>'Hist Model'!$AK$1</c:f>
              <c:strCache>
                <c:ptCount val="1"/>
                <c:pt idx="0">
                  <c:v>CNRM-CM5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  <a:effectLst/>
          </c:spPr>
          <c:invertIfNegative val="0"/>
          <c:val>
            <c:numRef>
              <c:f>'Hist Model'!$AK$2:$AK$13</c:f>
              <c:numCache>
                <c:formatCode>General</c:formatCode>
                <c:ptCount val="12"/>
                <c:pt idx="0">
                  <c:v>11</c:v>
                </c:pt>
                <c:pt idx="1">
                  <c:v>14</c:v>
                </c:pt>
                <c:pt idx="2">
                  <c:v>19</c:v>
                </c:pt>
                <c:pt idx="3">
                  <c:v>13</c:v>
                </c:pt>
                <c:pt idx="4">
                  <c:v>17</c:v>
                </c:pt>
                <c:pt idx="5">
                  <c:v>13</c:v>
                </c:pt>
                <c:pt idx="6">
                  <c:v>8</c:v>
                </c:pt>
                <c:pt idx="7">
                  <c:v>10</c:v>
                </c:pt>
                <c:pt idx="8">
                  <c:v>10</c:v>
                </c:pt>
                <c:pt idx="9">
                  <c:v>13</c:v>
                </c:pt>
                <c:pt idx="10">
                  <c:v>16</c:v>
                </c:pt>
                <c:pt idx="1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68D-496D-BD73-859CAEC5BB14}"/>
            </c:ext>
          </c:extLst>
        </c:ser>
        <c:ser>
          <c:idx val="3"/>
          <c:order val="3"/>
          <c:tx>
            <c:strRef>
              <c:f>'Hist Model'!$AL$1</c:f>
              <c:strCache>
                <c:ptCount val="1"/>
                <c:pt idx="0">
                  <c:v>GFDL-CM3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 w="12700">
              <a:solidFill>
                <a:schemeClr val="tx1"/>
              </a:solidFill>
            </a:ln>
            <a:effectLst/>
          </c:spPr>
          <c:invertIfNegative val="0"/>
          <c:val>
            <c:numRef>
              <c:f>'Hist Model'!$AL$2:$AL$13</c:f>
              <c:numCache>
                <c:formatCode>General</c:formatCode>
                <c:ptCount val="12"/>
                <c:pt idx="0">
                  <c:v>20</c:v>
                </c:pt>
                <c:pt idx="1">
                  <c:v>18</c:v>
                </c:pt>
                <c:pt idx="2">
                  <c:v>18</c:v>
                </c:pt>
                <c:pt idx="3">
                  <c:v>16</c:v>
                </c:pt>
                <c:pt idx="4">
                  <c:v>10</c:v>
                </c:pt>
                <c:pt idx="5">
                  <c:v>11</c:v>
                </c:pt>
                <c:pt idx="6">
                  <c:v>3</c:v>
                </c:pt>
                <c:pt idx="7">
                  <c:v>3</c:v>
                </c:pt>
                <c:pt idx="8">
                  <c:v>10</c:v>
                </c:pt>
                <c:pt idx="9">
                  <c:v>18</c:v>
                </c:pt>
                <c:pt idx="10">
                  <c:v>24</c:v>
                </c:pt>
                <c:pt idx="11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68D-496D-BD73-859CAEC5BB14}"/>
            </c:ext>
          </c:extLst>
        </c:ser>
        <c:ser>
          <c:idx val="4"/>
          <c:order val="4"/>
          <c:tx>
            <c:strRef>
              <c:f>'Hist Model'!$AM$1</c:f>
              <c:strCache>
                <c:ptCount val="1"/>
                <c:pt idx="0">
                  <c:v>GFDL-ESM2G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 w="12700">
              <a:solidFill>
                <a:schemeClr val="tx1"/>
              </a:solidFill>
            </a:ln>
            <a:effectLst/>
          </c:spPr>
          <c:invertIfNegative val="0"/>
          <c:val>
            <c:numRef>
              <c:f>'Hist Model'!$AM$2:$AM$13</c:f>
              <c:numCache>
                <c:formatCode>General</c:formatCode>
                <c:ptCount val="12"/>
                <c:pt idx="0">
                  <c:v>30</c:v>
                </c:pt>
                <c:pt idx="1">
                  <c:v>28</c:v>
                </c:pt>
                <c:pt idx="2">
                  <c:v>22</c:v>
                </c:pt>
                <c:pt idx="3">
                  <c:v>19</c:v>
                </c:pt>
                <c:pt idx="4">
                  <c:v>8</c:v>
                </c:pt>
                <c:pt idx="5">
                  <c:v>4</c:v>
                </c:pt>
                <c:pt idx="6">
                  <c:v>0</c:v>
                </c:pt>
                <c:pt idx="7">
                  <c:v>4</c:v>
                </c:pt>
                <c:pt idx="8">
                  <c:v>6</c:v>
                </c:pt>
                <c:pt idx="9">
                  <c:v>15</c:v>
                </c:pt>
                <c:pt idx="10">
                  <c:v>20</c:v>
                </c:pt>
                <c:pt idx="1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68D-496D-BD73-859CAEC5BB14}"/>
            </c:ext>
          </c:extLst>
        </c:ser>
        <c:ser>
          <c:idx val="5"/>
          <c:order val="5"/>
          <c:tx>
            <c:strRef>
              <c:f>'Hist Model'!$AN$1</c:f>
              <c:strCache>
                <c:ptCount val="1"/>
                <c:pt idx="0">
                  <c:v>GFDL-ESM2M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</a:ln>
            <a:effectLst/>
          </c:spPr>
          <c:invertIfNegative val="0"/>
          <c:val>
            <c:numRef>
              <c:f>'Hist Model'!$AN$2:$AN$13</c:f>
              <c:numCache>
                <c:formatCode>General</c:formatCode>
                <c:ptCount val="12"/>
                <c:pt idx="0">
                  <c:v>32</c:v>
                </c:pt>
                <c:pt idx="1">
                  <c:v>27</c:v>
                </c:pt>
                <c:pt idx="2">
                  <c:v>18</c:v>
                </c:pt>
                <c:pt idx="3">
                  <c:v>11</c:v>
                </c:pt>
                <c:pt idx="4">
                  <c:v>7</c:v>
                </c:pt>
                <c:pt idx="5">
                  <c:v>6</c:v>
                </c:pt>
                <c:pt idx="6">
                  <c:v>2</c:v>
                </c:pt>
                <c:pt idx="7">
                  <c:v>3</c:v>
                </c:pt>
                <c:pt idx="8">
                  <c:v>12</c:v>
                </c:pt>
                <c:pt idx="9">
                  <c:v>17</c:v>
                </c:pt>
                <c:pt idx="10">
                  <c:v>17</c:v>
                </c:pt>
                <c:pt idx="11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68D-496D-BD73-859CAEC5BB14}"/>
            </c:ext>
          </c:extLst>
        </c:ser>
        <c:ser>
          <c:idx val="6"/>
          <c:order val="6"/>
          <c:tx>
            <c:strRef>
              <c:f>'Hist Model'!$AO$1</c:f>
              <c:strCache>
                <c:ptCount val="1"/>
                <c:pt idx="0">
                  <c:v>IPSL-CM5A-MR</c:v>
                </c:pt>
              </c:strCache>
            </c:strRef>
          </c:tx>
          <c:spPr>
            <a:solidFill>
              <a:schemeClr val="tx1">
                <a:lumMod val="75000"/>
                <a:lumOff val="25000"/>
              </a:schemeClr>
            </a:solidFill>
            <a:ln w="12700">
              <a:solidFill>
                <a:schemeClr val="tx1"/>
              </a:solidFill>
            </a:ln>
            <a:effectLst/>
          </c:spPr>
          <c:invertIfNegative val="0"/>
          <c:val>
            <c:numRef>
              <c:f>'Hist Model'!$AO$2:$AO$13</c:f>
              <c:numCache>
                <c:formatCode>General</c:formatCode>
                <c:ptCount val="12"/>
                <c:pt idx="0">
                  <c:v>32</c:v>
                </c:pt>
                <c:pt idx="1">
                  <c:v>22</c:v>
                </c:pt>
                <c:pt idx="2">
                  <c:v>24</c:v>
                </c:pt>
                <c:pt idx="3">
                  <c:v>12</c:v>
                </c:pt>
                <c:pt idx="4">
                  <c:v>18</c:v>
                </c:pt>
                <c:pt idx="5">
                  <c:v>8</c:v>
                </c:pt>
                <c:pt idx="6">
                  <c:v>1</c:v>
                </c:pt>
                <c:pt idx="7">
                  <c:v>1</c:v>
                </c:pt>
                <c:pt idx="8">
                  <c:v>3</c:v>
                </c:pt>
                <c:pt idx="9">
                  <c:v>7</c:v>
                </c:pt>
                <c:pt idx="10">
                  <c:v>20</c:v>
                </c:pt>
                <c:pt idx="1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68D-496D-BD73-859CAEC5BB14}"/>
            </c:ext>
          </c:extLst>
        </c:ser>
        <c:ser>
          <c:idx val="7"/>
          <c:order val="7"/>
          <c:tx>
            <c:strRef>
              <c:f>'Hist Model'!$AP$1</c:f>
              <c:strCache>
                <c:ptCount val="1"/>
                <c:pt idx="0">
                  <c:v>HadGEM2-CC</c:v>
                </c:pt>
              </c:strCache>
            </c:strRef>
          </c:tx>
          <c:spPr>
            <a:solidFill>
              <a:schemeClr val="tx1">
                <a:lumMod val="85000"/>
                <a:lumOff val="15000"/>
              </a:schemeClr>
            </a:solidFill>
            <a:ln w="12700">
              <a:solidFill>
                <a:schemeClr val="tx1"/>
              </a:solidFill>
            </a:ln>
            <a:effectLst/>
          </c:spPr>
          <c:invertIfNegative val="0"/>
          <c:val>
            <c:numRef>
              <c:f>'Hist Model'!$AP$2:$AP$13</c:f>
              <c:numCache>
                <c:formatCode>General</c:formatCode>
                <c:ptCount val="12"/>
                <c:pt idx="0">
                  <c:v>21</c:v>
                </c:pt>
                <c:pt idx="1">
                  <c:v>23</c:v>
                </c:pt>
                <c:pt idx="2">
                  <c:v>21</c:v>
                </c:pt>
                <c:pt idx="3">
                  <c:v>9</c:v>
                </c:pt>
                <c:pt idx="4">
                  <c:v>6</c:v>
                </c:pt>
                <c:pt idx="5">
                  <c:v>2</c:v>
                </c:pt>
                <c:pt idx="6">
                  <c:v>5</c:v>
                </c:pt>
                <c:pt idx="7">
                  <c:v>8</c:v>
                </c:pt>
                <c:pt idx="8">
                  <c:v>11</c:v>
                </c:pt>
                <c:pt idx="9">
                  <c:v>17</c:v>
                </c:pt>
                <c:pt idx="10">
                  <c:v>18</c:v>
                </c:pt>
                <c:pt idx="11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268D-496D-BD73-859CAEC5BB14}"/>
            </c:ext>
          </c:extLst>
        </c:ser>
        <c:ser>
          <c:idx val="8"/>
          <c:order val="8"/>
          <c:tx>
            <c:strRef>
              <c:f>'Hist Model'!$AQ$1</c:f>
              <c:strCache>
                <c:ptCount val="1"/>
                <c:pt idx="0">
                  <c:v>MPI-ESM-LR</c:v>
                </c:pt>
              </c:strCache>
            </c:strRef>
          </c:tx>
          <c:spPr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  <a:effectLst/>
          </c:spPr>
          <c:invertIfNegative val="0"/>
          <c:val>
            <c:numRef>
              <c:f>'Hist Model'!$AQ$2:$AQ$13</c:f>
              <c:numCache>
                <c:formatCode>General</c:formatCode>
                <c:ptCount val="12"/>
                <c:pt idx="0">
                  <c:v>30</c:v>
                </c:pt>
                <c:pt idx="1">
                  <c:v>23</c:v>
                </c:pt>
                <c:pt idx="2">
                  <c:v>29</c:v>
                </c:pt>
                <c:pt idx="3">
                  <c:v>20</c:v>
                </c:pt>
                <c:pt idx="4">
                  <c:v>18</c:v>
                </c:pt>
                <c:pt idx="5">
                  <c:v>4</c:v>
                </c:pt>
                <c:pt idx="6">
                  <c:v>3</c:v>
                </c:pt>
                <c:pt idx="7">
                  <c:v>12</c:v>
                </c:pt>
                <c:pt idx="8">
                  <c:v>13</c:v>
                </c:pt>
                <c:pt idx="9">
                  <c:v>12</c:v>
                </c:pt>
                <c:pt idx="10">
                  <c:v>13</c:v>
                </c:pt>
                <c:pt idx="11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68D-496D-BD73-859CAEC5BB14}"/>
            </c:ext>
          </c:extLst>
        </c:ser>
        <c:ser>
          <c:idx val="9"/>
          <c:order val="9"/>
          <c:tx>
            <c:strRef>
              <c:f>'Hist Model'!$AR$1</c:f>
              <c:strCache>
                <c:ptCount val="1"/>
                <c:pt idx="0">
                  <c:v>XEMA</c:v>
                </c:pt>
              </c:strCache>
            </c:strRef>
          </c:tx>
          <c:spPr>
            <a:solidFill>
              <a:schemeClr val="tx1"/>
            </a:solidFill>
            <a:ln w="12700">
              <a:solidFill>
                <a:srgbClr val="FF0000"/>
              </a:solidFill>
            </a:ln>
            <a:effectLst/>
          </c:spPr>
          <c:invertIfNegative val="0"/>
          <c:val>
            <c:numRef>
              <c:f>'Hist Model'!$AR$2:$AR$13</c:f>
              <c:numCache>
                <c:formatCode>General</c:formatCode>
                <c:ptCount val="12"/>
                <c:pt idx="0">
                  <c:v>30</c:v>
                </c:pt>
                <c:pt idx="1">
                  <c:v>33</c:v>
                </c:pt>
                <c:pt idx="2">
                  <c:v>16</c:v>
                </c:pt>
                <c:pt idx="3">
                  <c:v>26</c:v>
                </c:pt>
                <c:pt idx="4">
                  <c:v>7</c:v>
                </c:pt>
                <c:pt idx="5">
                  <c:v>7</c:v>
                </c:pt>
                <c:pt idx="6">
                  <c:v>3</c:v>
                </c:pt>
                <c:pt idx="7">
                  <c:v>3</c:v>
                </c:pt>
                <c:pt idx="8">
                  <c:v>10</c:v>
                </c:pt>
                <c:pt idx="9">
                  <c:v>13</c:v>
                </c:pt>
                <c:pt idx="10">
                  <c:v>20</c:v>
                </c:pt>
                <c:pt idx="11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68D-496D-BD73-859CAEC5BB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68744624"/>
        <c:axId val="1678593424"/>
      </c:barChart>
      <c:catAx>
        <c:axId val="166874462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678593424"/>
        <c:crosses val="autoZero"/>
        <c:auto val="1"/>
        <c:lblAlgn val="ctr"/>
        <c:lblOffset val="100"/>
        <c:noMultiLvlLbl val="0"/>
      </c:catAx>
      <c:valAx>
        <c:axId val="16785934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668744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e capçalera 1">
            <a:extLst>
              <a:ext uri="{FF2B5EF4-FFF2-40B4-BE49-F238E27FC236}">
                <a16:creationId xmlns:a16="http://schemas.microsoft.com/office/drawing/2014/main" id="{9821C587-13EC-4222-AA65-EC2CA9EAC7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ca-ES"/>
          </a:p>
        </p:txBody>
      </p:sp>
      <p:sp>
        <p:nvSpPr>
          <p:cNvPr id="3" name="Contenidor de data 2">
            <a:extLst>
              <a:ext uri="{FF2B5EF4-FFF2-40B4-BE49-F238E27FC236}">
                <a16:creationId xmlns:a16="http://schemas.microsoft.com/office/drawing/2014/main" id="{959F9F0A-DAFD-4BF6-95E7-6F57F4D93E7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3B62F42-EEDD-4298-9264-267C7C4F6280}" type="datetimeFigureOut">
              <a:rPr lang="ca-ES"/>
              <a:pPr>
                <a:defRPr/>
              </a:pPr>
              <a:t>25/5/2021</a:t>
            </a:fld>
            <a:endParaRPr lang="ca-ES"/>
          </a:p>
        </p:txBody>
      </p:sp>
      <p:sp>
        <p:nvSpPr>
          <p:cNvPr id="4" name="Contenidor d'imatge de diapositiva 3">
            <a:extLst>
              <a:ext uri="{FF2B5EF4-FFF2-40B4-BE49-F238E27FC236}">
                <a16:creationId xmlns:a16="http://schemas.microsoft.com/office/drawing/2014/main" id="{59057A83-D456-4C78-8D84-7F4B8296BA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0275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ca-ES" noProof="0"/>
          </a:p>
        </p:txBody>
      </p:sp>
      <p:sp>
        <p:nvSpPr>
          <p:cNvPr id="5" name="Contenidor de notes 4">
            <a:extLst>
              <a:ext uri="{FF2B5EF4-FFF2-40B4-BE49-F238E27FC236}">
                <a16:creationId xmlns:a16="http://schemas.microsoft.com/office/drawing/2014/main" id="{8D14DDB1-A0E0-4040-9ABF-6BE3D8D26A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689475"/>
            <a:ext cx="5438775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a-ES" noProof="0"/>
              <a:t>Feu clic aquí per editar estils</a:t>
            </a:r>
          </a:p>
          <a:p>
            <a:pPr lvl="1"/>
            <a:r>
              <a:rPr lang="ca-ES" noProof="0"/>
              <a:t>Segon nivell</a:t>
            </a:r>
          </a:p>
          <a:p>
            <a:pPr lvl="2"/>
            <a:r>
              <a:rPr lang="ca-ES" noProof="0"/>
              <a:t>Tercer nivell</a:t>
            </a:r>
          </a:p>
          <a:p>
            <a:pPr lvl="3"/>
            <a:r>
              <a:rPr lang="ca-ES" noProof="0"/>
              <a:t>Quart nivell</a:t>
            </a:r>
          </a:p>
          <a:p>
            <a:pPr lvl="4"/>
            <a:r>
              <a:rPr lang="ca-ES" noProof="0"/>
              <a:t>Cinquè nivell</a:t>
            </a:r>
          </a:p>
        </p:txBody>
      </p:sp>
      <p:sp>
        <p:nvSpPr>
          <p:cNvPr id="6" name="Contenidor de peu de pàgina 5">
            <a:extLst>
              <a:ext uri="{FF2B5EF4-FFF2-40B4-BE49-F238E27FC236}">
                <a16:creationId xmlns:a16="http://schemas.microsoft.com/office/drawing/2014/main" id="{0FFF47E6-E31B-454C-9F52-FD0D969D582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377363"/>
            <a:ext cx="29464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ca-ES"/>
          </a:p>
        </p:txBody>
      </p:sp>
      <p:sp>
        <p:nvSpPr>
          <p:cNvPr id="7" name="Contenidor de número de diapositiva 6">
            <a:extLst>
              <a:ext uri="{FF2B5EF4-FFF2-40B4-BE49-F238E27FC236}">
                <a16:creationId xmlns:a16="http://schemas.microsoft.com/office/drawing/2014/main" id="{D194DB9D-AD74-452B-995D-4C73C8FD7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9688" y="9377363"/>
            <a:ext cx="2946400" cy="493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693175DC-7B8D-4436-8BFC-354B8FD96971}" type="slidenum">
              <a:rPr lang="ca-ES" altLang="ca-ES"/>
              <a:pPr>
                <a:defRPr/>
              </a:pPr>
              <a:t>‹Nº›</a:t>
            </a:fld>
            <a:endParaRPr lang="ca-ES" altLang="ca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just">
              <a:buFont typeface="Courier New" panose="02070309020205020404" pitchFamily="49" charset="0"/>
              <a:buChar char="o"/>
            </a:pPr>
            <a:r>
              <a:rPr lang="ca-ES" sz="1200" dirty="0">
                <a:latin typeface="Arial" panose="020B0604020202020204" pitchFamily="34" charset="0"/>
                <a:cs typeface="Arial" panose="020B0604020202020204" pitchFamily="34" charset="0"/>
              </a:rPr>
              <a:t>El número total de dies amb tramuntana a l’Empordà segueixen una distribució mensual semblant en els 9 models utilitzats i coherent amb la distribució obtinguda amb les dades de les estacions meteorològiques.</a:t>
            </a:r>
          </a:p>
          <a:p>
            <a:pPr marL="171450" indent="-171450" algn="just">
              <a:buFont typeface="Courier New" panose="02070309020205020404" pitchFamily="49" charset="0"/>
              <a:buChar char="o"/>
            </a:pPr>
            <a:r>
              <a:rPr lang="ca-ES" sz="1200" dirty="0">
                <a:latin typeface="Arial" panose="020B0604020202020204" pitchFamily="34" charset="0"/>
                <a:cs typeface="Arial" panose="020B0604020202020204" pitchFamily="34" charset="0"/>
              </a:rPr>
              <a:t>El regim estacional es Hivern – Primavera – Tardor – Estiu (HPTE) amb màxims al gener i al febrer.</a:t>
            </a:r>
          </a:p>
          <a:p>
            <a:pPr marL="171450" indent="-171450" algn="just">
              <a:buFont typeface="Courier New" panose="02070309020205020404" pitchFamily="49" charset="0"/>
              <a:buChar char="o"/>
            </a:pPr>
            <a:r>
              <a:rPr lang="ca-ES" sz="1200" dirty="0">
                <a:latin typeface="Arial" panose="020B0604020202020204" pitchFamily="34" charset="0"/>
                <a:cs typeface="Arial" panose="020B0604020202020204" pitchFamily="34" charset="0"/>
              </a:rPr>
              <a:t>Aquest regim es resultat de què les condicions sinòptiques durant la primavera i sobretot durant l’hivern són favorables a causar episodis de tramuntana.</a:t>
            </a:r>
          </a:p>
          <a:p>
            <a:pPr marL="171450" indent="-171450" algn="just">
              <a:buFont typeface="Courier New" panose="02070309020205020404" pitchFamily="49" charset="0"/>
              <a:buChar char="o"/>
            </a:pPr>
            <a:r>
              <a:rPr lang="ca-ES" sz="1200" dirty="0">
                <a:latin typeface="Arial" panose="020B0604020202020204" pitchFamily="34" charset="0"/>
                <a:cs typeface="Arial" panose="020B0604020202020204" pitchFamily="34" charset="0"/>
              </a:rPr>
              <a:t>La configuració sinòptica durant aquestes dos estacions és de tipus zonal (vent de l’oest), és a dir, la circulació de borrasques a l’Europa occidental se trasllada cap al sud afectant Catalunya.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3175DC-7B8D-4436-8BFC-354B8FD96971}" type="slidenum">
              <a:rPr lang="ca-ES" altLang="ca-ES" smtClean="0"/>
              <a:pPr>
                <a:defRPr/>
              </a:pPr>
              <a:t>11</a:t>
            </a:fld>
            <a:endParaRPr lang="ca-ES" altLang="ca-ES"/>
          </a:p>
        </p:txBody>
      </p:sp>
    </p:spTree>
    <p:extLst>
      <p:ext uri="{BB962C8B-B14F-4D97-AF65-F5344CB8AC3E}">
        <p14:creationId xmlns:p14="http://schemas.microsoft.com/office/powerpoint/2010/main" val="814517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C4A86C-0477-4200-B593-6DCB20E3E748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3784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ol i comia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ctrTitle"/>
          </p:nvPr>
        </p:nvSpPr>
        <p:spPr>
          <a:xfrm>
            <a:off x="685800" y="3290400"/>
            <a:ext cx="7772400" cy="1252800"/>
          </a:xfrm>
        </p:spPr>
        <p:txBody>
          <a:bodyPr>
            <a:normAutofit/>
          </a:bodyPr>
          <a:lstStyle>
            <a:lvl1pPr algn="ctr">
              <a:defRPr sz="3600"/>
            </a:lvl1pPr>
          </a:lstStyle>
          <a:p>
            <a:r>
              <a:rPr lang="ca-ES"/>
              <a:t>Feu clic aquí per editar l'estil</a:t>
            </a:r>
            <a:endParaRPr lang="ca-ES" dirty="0"/>
          </a:p>
        </p:txBody>
      </p:sp>
      <p:sp>
        <p:nvSpPr>
          <p:cNvPr id="3" name="Subtítol 2"/>
          <p:cNvSpPr>
            <a:spLocks noGrp="1"/>
          </p:cNvSpPr>
          <p:nvPr>
            <p:ph type="subTitle" idx="1"/>
          </p:nvPr>
        </p:nvSpPr>
        <p:spPr>
          <a:xfrm>
            <a:off x="687600" y="4827600"/>
            <a:ext cx="7772400" cy="763200"/>
          </a:xfrm>
        </p:spPr>
        <p:txBody>
          <a:bodyPr/>
          <a:lstStyle>
            <a:lvl1pPr marL="0" indent="0" algn="ctr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a-ES"/>
              <a:t>Feu clic aquí per editar l'estil de subtítols del patró</a:t>
            </a:r>
            <a:endParaRPr lang="ca-ES" dirty="0"/>
          </a:p>
        </p:txBody>
      </p:sp>
      <p:sp>
        <p:nvSpPr>
          <p:cNvPr id="4" name="Contenidor de número de diapositiva 5">
            <a:extLst>
              <a:ext uri="{FF2B5EF4-FFF2-40B4-BE49-F238E27FC236}">
                <a16:creationId xmlns:a16="http://schemas.microsoft.com/office/drawing/2014/main" id="{AA7720F1-CBFE-4B1D-AD5B-F38E60DE71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0001B84-E7BE-4139-BA80-C66019DB7103}" type="slidenum">
              <a:rPr lang="ca-ES" altLang="ca-ES"/>
              <a:pPr>
                <a:defRPr/>
              </a:pPr>
              <a:t>‹Nº›</a:t>
            </a:fld>
            <a:endParaRPr lang="ca-ES" altLang="ca-ES"/>
          </a:p>
        </p:txBody>
      </p:sp>
    </p:spTree>
    <p:extLst>
      <p:ext uri="{BB962C8B-B14F-4D97-AF65-F5344CB8AC3E}">
        <p14:creationId xmlns:p14="http://schemas.microsoft.com/office/powerpoint/2010/main" val="4199716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ol i objec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</a:p>
        </p:txBody>
      </p:sp>
      <p:sp>
        <p:nvSpPr>
          <p:cNvPr id="3" name="Contenidor de contingut 2"/>
          <p:cNvSpPr>
            <a:spLocks noGrp="1"/>
          </p:cNvSpPr>
          <p:nvPr>
            <p:ph idx="1"/>
          </p:nvPr>
        </p:nvSpPr>
        <p:spPr>
          <a:xfrm>
            <a:off x="356400" y="2059201"/>
            <a:ext cx="8464072" cy="3674056"/>
          </a:xfrm>
        </p:spPr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ca-ES" dirty="0"/>
          </a:p>
        </p:txBody>
      </p:sp>
      <p:sp>
        <p:nvSpPr>
          <p:cNvPr id="5" name="Contenidor de text 4"/>
          <p:cNvSpPr>
            <a:spLocks noGrp="1"/>
          </p:cNvSpPr>
          <p:nvPr>
            <p:ph type="body" sz="quarter" idx="13"/>
          </p:nvPr>
        </p:nvSpPr>
        <p:spPr>
          <a:xfrm>
            <a:off x="356399" y="1268413"/>
            <a:ext cx="8571600" cy="4284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200" b="1"/>
            </a:lvl1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45F385F7-8848-4A2D-A1F7-DFDC07FC81B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DD9CDB-6556-4959-BB44-FBE20CB3D1B0}" type="slidenum">
              <a:rPr lang="ca-ES" altLang="ca-ES"/>
              <a:pPr>
                <a:defRPr/>
              </a:pPr>
              <a:t>‹Nº›</a:t>
            </a:fld>
            <a:endParaRPr lang="ca-ES" altLang="ca-ES"/>
          </a:p>
        </p:txBody>
      </p:sp>
    </p:spTree>
    <p:extLst>
      <p:ext uri="{BB962C8B-B14F-4D97-AF65-F5344CB8AC3E}">
        <p14:creationId xmlns:p14="http://schemas.microsoft.com/office/powerpoint/2010/main" val="1346169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ol i objectes sens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or recte 4">
            <a:extLst>
              <a:ext uri="{FF2B5EF4-FFF2-40B4-BE49-F238E27FC236}">
                <a16:creationId xmlns:a16="http://schemas.microsoft.com/office/drawing/2014/main" id="{DF4AFD04-4ECC-4AE8-8915-3C508A893B1E}"/>
              </a:ext>
            </a:extLst>
          </p:cNvPr>
          <p:cNvCxnSpPr/>
          <p:nvPr/>
        </p:nvCxnSpPr>
        <p:spPr>
          <a:xfrm>
            <a:off x="468313" y="1073150"/>
            <a:ext cx="8383587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o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</a:p>
        </p:txBody>
      </p:sp>
      <p:sp>
        <p:nvSpPr>
          <p:cNvPr id="3" name="Contenidor de contingut 2"/>
          <p:cNvSpPr>
            <a:spLocks noGrp="1"/>
          </p:cNvSpPr>
          <p:nvPr>
            <p:ph idx="1"/>
          </p:nvPr>
        </p:nvSpPr>
        <p:spPr>
          <a:xfrm>
            <a:off x="356400" y="2059200"/>
            <a:ext cx="8464072" cy="4106103"/>
          </a:xfrm>
        </p:spPr>
        <p:txBody>
          <a:bodyPr/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ca-ES" dirty="0"/>
          </a:p>
        </p:txBody>
      </p:sp>
      <p:sp>
        <p:nvSpPr>
          <p:cNvPr id="8" name="Contenidor de text 4"/>
          <p:cNvSpPr>
            <a:spLocks noGrp="1"/>
          </p:cNvSpPr>
          <p:nvPr>
            <p:ph type="body" sz="quarter" idx="13"/>
          </p:nvPr>
        </p:nvSpPr>
        <p:spPr>
          <a:xfrm>
            <a:off x="356399" y="1268413"/>
            <a:ext cx="8571600" cy="4284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200" b="1"/>
            </a:lvl1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81B429E8-8259-4814-8754-3192A69B1D6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EE954C5-F449-4841-AA88-0EB496E70377}" type="slidenum">
              <a:rPr lang="ca-ES" altLang="ca-ES"/>
              <a:pPr>
                <a:defRPr/>
              </a:pPr>
              <a:t>‹Nº›</a:t>
            </a:fld>
            <a:endParaRPr lang="ca-ES" altLang="ca-ES"/>
          </a:p>
        </p:txBody>
      </p:sp>
    </p:spTree>
    <p:extLst>
      <p:ext uri="{BB962C8B-B14F-4D97-AF65-F5344CB8AC3E}">
        <p14:creationId xmlns:p14="http://schemas.microsoft.com/office/powerpoint/2010/main" val="2443976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ol i objectes sense nive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  <a:endParaRPr lang="ca-ES" dirty="0"/>
          </a:p>
        </p:txBody>
      </p:sp>
      <p:sp>
        <p:nvSpPr>
          <p:cNvPr id="3" name="Contenidor de contingut 2"/>
          <p:cNvSpPr>
            <a:spLocks noGrp="1"/>
          </p:cNvSpPr>
          <p:nvPr>
            <p:ph idx="1"/>
          </p:nvPr>
        </p:nvSpPr>
        <p:spPr>
          <a:xfrm>
            <a:off x="356400" y="2059200"/>
            <a:ext cx="8464072" cy="353003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7" name="Contenidor de text 4"/>
          <p:cNvSpPr>
            <a:spLocks noGrp="1"/>
          </p:cNvSpPr>
          <p:nvPr>
            <p:ph type="body" sz="quarter" idx="13"/>
          </p:nvPr>
        </p:nvSpPr>
        <p:spPr>
          <a:xfrm>
            <a:off x="356399" y="1268413"/>
            <a:ext cx="8571600" cy="4284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200" b="1"/>
            </a:lvl1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5" name="Contenidor de número de diapositiva 5">
            <a:extLst>
              <a:ext uri="{FF2B5EF4-FFF2-40B4-BE49-F238E27FC236}">
                <a16:creationId xmlns:a16="http://schemas.microsoft.com/office/drawing/2014/main" id="{DB558AF2-2618-49AB-A27C-32E5EFF0EC4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3B7C98-1810-4274-951D-48ABE1839E92}" type="slidenum">
              <a:rPr lang="ca-ES" altLang="ca-ES"/>
              <a:pPr>
                <a:defRPr/>
              </a:pPr>
              <a:t>‹Nº›</a:t>
            </a:fld>
            <a:endParaRPr lang="ca-ES" altLang="ca-ES"/>
          </a:p>
        </p:txBody>
      </p:sp>
    </p:spTree>
    <p:extLst>
      <p:ext uri="{BB962C8B-B14F-4D97-AF65-F5344CB8AC3E}">
        <p14:creationId xmlns:p14="http://schemas.microsoft.com/office/powerpoint/2010/main" val="1771312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s colum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/>
              <a:t>Feu clic aquí per editar l'estil</a:t>
            </a:r>
          </a:p>
        </p:txBody>
      </p:sp>
      <p:sp>
        <p:nvSpPr>
          <p:cNvPr id="3" name="Contenidor de contingut 2"/>
          <p:cNvSpPr>
            <a:spLocks noGrp="1"/>
          </p:cNvSpPr>
          <p:nvPr>
            <p:ph sz="half" idx="1"/>
          </p:nvPr>
        </p:nvSpPr>
        <p:spPr>
          <a:xfrm>
            <a:off x="356400" y="2059201"/>
            <a:ext cx="4038600" cy="367405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ca-ES" dirty="0"/>
          </a:p>
        </p:txBody>
      </p:sp>
      <p:sp>
        <p:nvSpPr>
          <p:cNvPr id="4" name="Contenidor de contingut 3"/>
          <p:cNvSpPr>
            <a:spLocks noGrp="1"/>
          </p:cNvSpPr>
          <p:nvPr>
            <p:ph sz="half" idx="2"/>
          </p:nvPr>
        </p:nvSpPr>
        <p:spPr>
          <a:xfrm>
            <a:off x="4648200" y="2059201"/>
            <a:ext cx="4038600" cy="367405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  <a:endParaRPr lang="ca-ES" dirty="0"/>
          </a:p>
        </p:txBody>
      </p:sp>
      <p:sp>
        <p:nvSpPr>
          <p:cNvPr id="9" name="Contenidor de text 4"/>
          <p:cNvSpPr>
            <a:spLocks noGrp="1"/>
          </p:cNvSpPr>
          <p:nvPr>
            <p:ph type="body" sz="quarter" idx="13"/>
          </p:nvPr>
        </p:nvSpPr>
        <p:spPr>
          <a:xfrm>
            <a:off x="356399" y="1268413"/>
            <a:ext cx="8571600" cy="4284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200" b="1"/>
            </a:lvl1pPr>
          </a:lstStyle>
          <a:p>
            <a:pPr lvl="0"/>
            <a:r>
              <a:rPr lang="ca-ES"/>
              <a:t>Feu clic per editar els estils del text del patró</a:t>
            </a:r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CB181837-740D-450B-B5FC-4C736C7F85A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DC2544-8C77-4E76-80EC-8DC57FF25617}" type="slidenum">
              <a:rPr lang="ca-ES" altLang="ca-ES"/>
              <a:pPr>
                <a:defRPr/>
              </a:pPr>
              <a:t>‹Nº›</a:t>
            </a:fld>
            <a:endParaRPr lang="ca-ES" altLang="ca-ES"/>
          </a:p>
        </p:txBody>
      </p:sp>
    </p:spTree>
    <p:extLst>
      <p:ext uri="{BB962C8B-B14F-4D97-AF65-F5344CB8AC3E}">
        <p14:creationId xmlns:p14="http://schemas.microsoft.com/office/powerpoint/2010/main" val="3749883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e número de diapositiva 3">
            <a:extLst>
              <a:ext uri="{FF2B5EF4-FFF2-40B4-BE49-F238E27FC236}">
                <a16:creationId xmlns:a16="http://schemas.microsoft.com/office/drawing/2014/main" id="{1D3964D0-04B9-4A67-8F7F-341A78B8E2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4C729F5-4C85-44E2-83CA-43590F0E6E2E}" type="slidenum">
              <a:rPr lang="ca-ES" altLang="ca-ES"/>
              <a:pPr>
                <a:defRPr/>
              </a:pPr>
              <a:t>‹Nº›</a:t>
            </a:fld>
            <a:endParaRPr lang="ca-ES" altLang="ca-ES"/>
          </a:p>
        </p:txBody>
      </p:sp>
    </p:spTree>
    <p:extLst>
      <p:ext uri="{BB962C8B-B14F-4D97-AF65-F5344CB8AC3E}">
        <p14:creationId xmlns:p14="http://schemas.microsoft.com/office/powerpoint/2010/main" val="1353776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Contenidor de títol 1">
            <a:extLst>
              <a:ext uri="{FF2B5EF4-FFF2-40B4-BE49-F238E27FC236}">
                <a16:creationId xmlns:a16="http://schemas.microsoft.com/office/drawing/2014/main" id="{99316DAB-BCDD-4230-96FA-958ED6EEE8F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57188" y="573088"/>
            <a:ext cx="8570912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a-ES" altLang="ca-ES"/>
              <a:t>Feu clic aquí per editar l'estil</a:t>
            </a:r>
          </a:p>
        </p:txBody>
      </p:sp>
      <p:sp>
        <p:nvSpPr>
          <p:cNvPr id="1027" name="Contenidor de text 2">
            <a:extLst>
              <a:ext uri="{FF2B5EF4-FFF2-40B4-BE49-F238E27FC236}">
                <a16:creationId xmlns:a16="http://schemas.microsoft.com/office/drawing/2014/main" id="{6014E431-4597-4CF8-8620-BC814B18CBE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57188" y="2058988"/>
            <a:ext cx="8383587" cy="3313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a-ES" altLang="ca-ES"/>
              <a:t>Feu clic aquí per editar estils</a:t>
            </a:r>
          </a:p>
          <a:p>
            <a:pPr lvl="1"/>
            <a:r>
              <a:rPr lang="ca-ES" altLang="ca-ES"/>
              <a:t>Segon nivell</a:t>
            </a:r>
          </a:p>
          <a:p>
            <a:pPr lvl="2"/>
            <a:r>
              <a:rPr lang="ca-ES" altLang="ca-ES"/>
              <a:t>Tercer nivell</a:t>
            </a:r>
          </a:p>
          <a:p>
            <a:pPr lvl="3"/>
            <a:r>
              <a:rPr lang="ca-ES" altLang="ca-ES"/>
              <a:t>Quart nivell</a:t>
            </a:r>
          </a:p>
          <a:p>
            <a:pPr lvl="4"/>
            <a:r>
              <a:rPr lang="ca-ES" altLang="ca-ES"/>
              <a:t>Cinquè nivell</a:t>
            </a:r>
          </a:p>
        </p:txBody>
      </p:sp>
      <p:sp>
        <p:nvSpPr>
          <p:cNvPr id="6" name="Contenidor de número de diapositiva 5">
            <a:extLst>
              <a:ext uri="{FF2B5EF4-FFF2-40B4-BE49-F238E27FC236}">
                <a16:creationId xmlns:a16="http://schemas.microsoft.com/office/drawing/2014/main" id="{F6BB1303-AD68-416E-9A65-3597BF714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b="1" smtClean="0">
                <a:solidFill>
                  <a:srgbClr val="898989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2C18E22-C6F4-4195-A8CC-1710E132C710}" type="slidenum">
              <a:rPr lang="ca-ES" altLang="ca-ES"/>
              <a:pPr>
                <a:defRPr/>
              </a:pPr>
              <a:t>‹Nº›</a:t>
            </a:fld>
            <a:endParaRPr lang="ca-ES" altLang="ca-ES"/>
          </a:p>
        </p:txBody>
      </p:sp>
      <p:cxnSp>
        <p:nvCxnSpPr>
          <p:cNvPr id="8" name="Connector recte 7">
            <a:extLst>
              <a:ext uri="{FF2B5EF4-FFF2-40B4-BE49-F238E27FC236}">
                <a16:creationId xmlns:a16="http://schemas.microsoft.com/office/drawing/2014/main" id="{DCEB7657-AD83-4780-B139-02C246376DE0}"/>
              </a:ext>
            </a:extLst>
          </p:cNvPr>
          <p:cNvCxnSpPr/>
          <p:nvPr/>
        </p:nvCxnSpPr>
        <p:spPr>
          <a:xfrm>
            <a:off x="468313" y="1073150"/>
            <a:ext cx="8383587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3" r:id="rId2"/>
    <p:sldLayoutId id="2147483737" r:id="rId3"/>
    <p:sldLayoutId id="2147483734" r:id="rId4"/>
    <p:sldLayoutId id="2147483735" r:id="rId5"/>
    <p:sldLayoutId id="2147483738" r:id="rId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rgbClr val="C00000"/>
          </a:solidFill>
          <a:latin typeface="Arial" pitchFamily="34" charset="0"/>
          <a:ea typeface="+mj-ea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C00000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C00000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C00000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C00000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C00000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C00000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C00000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C00000"/>
          </a:solidFill>
          <a:latin typeface="Arial" charset="0"/>
          <a:cs typeface="Arial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Font typeface="Wingdings 2" panose="05020102010507070707" pitchFamily="18" charset="2"/>
        <a:buChar char="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a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etoffice.gov.uk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mpimet.mpg.de/en/science/models/mpi-esm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ítol 1">
            <a:extLst>
              <a:ext uri="{FF2B5EF4-FFF2-40B4-BE49-F238E27FC236}">
                <a16:creationId xmlns:a16="http://schemas.microsoft.com/office/drawing/2014/main" id="{8CF28B1B-7EED-4A5E-B93B-4539B2DA75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924944"/>
            <a:ext cx="7772400" cy="125253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Evolution of synoptic patterns associated with north wind episodes (</a:t>
            </a:r>
            <a:r>
              <a:rPr lang="en-US" dirty="0" err="1"/>
              <a:t>tramuntana</a:t>
            </a:r>
            <a:r>
              <a:rPr lang="en-US" dirty="0"/>
              <a:t>) in northeastern Catalonia throughout the 21st century</a:t>
            </a:r>
            <a:endParaRPr lang="es-ES" altLang="ca-ES" dirty="0"/>
          </a:p>
        </p:txBody>
      </p:sp>
      <p:sp>
        <p:nvSpPr>
          <p:cNvPr id="6147" name="Subtítol 2">
            <a:extLst>
              <a:ext uri="{FF2B5EF4-FFF2-40B4-BE49-F238E27FC236}">
                <a16:creationId xmlns:a16="http://schemas.microsoft.com/office/drawing/2014/main" id="{7578E10E-CB22-4404-BB93-E2B10077CF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7388" y="4827588"/>
            <a:ext cx="7772400" cy="763587"/>
          </a:xfrm>
        </p:spPr>
        <p:txBody>
          <a:bodyPr/>
          <a:lstStyle/>
          <a:p>
            <a:pPr eaLnBrk="1" hangingPunct="1"/>
            <a:r>
              <a:rPr lang="es-ES" altLang="ca-ES" dirty="0"/>
              <a:t>Marc </a:t>
            </a:r>
            <a:r>
              <a:rPr lang="es-ES" altLang="ca-ES" dirty="0" err="1"/>
              <a:t>Prohom</a:t>
            </a:r>
            <a:r>
              <a:rPr lang="es-ES" altLang="ca-ES" dirty="0"/>
              <a:t> and Juan Carlos Peña</a:t>
            </a:r>
            <a:br>
              <a:rPr lang="es-ES" altLang="ca-ES" dirty="0"/>
            </a:br>
            <a:r>
              <a:rPr lang="es-ES" altLang="ca-ES" sz="1600" b="0" dirty="0"/>
              <a:t>marc.prohom@gencat.cat</a:t>
            </a:r>
            <a:endParaRPr lang="es-ES" altLang="ca-ES" b="0" dirty="0"/>
          </a:p>
          <a:p>
            <a:pPr eaLnBrk="1" hangingPunct="1"/>
            <a:endParaRPr lang="es-ES" altLang="ca-ES" dirty="0"/>
          </a:p>
          <a:p>
            <a:pPr eaLnBrk="1" hangingPunct="1"/>
            <a:endParaRPr lang="es-ES" altLang="ca-ES" dirty="0"/>
          </a:p>
          <a:p>
            <a:pPr eaLnBrk="1" hangingPunct="1"/>
            <a:r>
              <a:rPr lang="es-ES" altLang="ca-ES" sz="1600" b="0" dirty="0"/>
              <a:t>8th </a:t>
            </a:r>
            <a:r>
              <a:rPr lang="es-ES" altLang="ca-ES" sz="1600" b="0" dirty="0" err="1"/>
              <a:t>MedMet</a:t>
            </a:r>
            <a:r>
              <a:rPr lang="es-ES" altLang="ca-ES" sz="1600" b="0" dirty="0"/>
              <a:t> </a:t>
            </a:r>
            <a:r>
              <a:rPr lang="es-ES" altLang="ca-ES" sz="1600" b="0" dirty="0" err="1"/>
              <a:t>Conference</a:t>
            </a:r>
            <a:r>
              <a:rPr lang="es-ES" altLang="ca-ES" sz="1600" b="0" dirty="0"/>
              <a:t> – 25th May 2021</a:t>
            </a:r>
          </a:p>
        </p:txBody>
      </p:sp>
      <p:pic>
        <p:nvPicPr>
          <p:cNvPr id="3" name="Imatge 2">
            <a:extLst>
              <a:ext uri="{FF2B5EF4-FFF2-40B4-BE49-F238E27FC236}">
                <a16:creationId xmlns:a16="http://schemas.microsoft.com/office/drawing/2014/main" id="{F7FA79DC-A098-4087-8449-BA04E4D9C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680" y="501777"/>
            <a:ext cx="4358640" cy="765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ol 1">
            <a:extLst>
              <a:ext uri="{FF2B5EF4-FFF2-40B4-BE49-F238E27FC236}">
                <a16:creationId xmlns:a16="http://schemas.microsoft.com/office/drawing/2014/main" id="{87832F86-5FED-4835-A8C7-BFB345636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a-ES" altLang="ca-ES" dirty="0" err="1"/>
              <a:t>The</a:t>
            </a:r>
            <a:r>
              <a:rPr lang="ca-ES" altLang="ca-ES" dirty="0"/>
              <a:t> CLIMAVIT 21 </a:t>
            </a:r>
            <a:r>
              <a:rPr lang="ca-ES" altLang="ca-ES" dirty="0" err="1"/>
              <a:t>project</a:t>
            </a:r>
            <a:endParaRPr lang="ca-ES" altLang="ca-ES" dirty="0"/>
          </a:p>
        </p:txBody>
      </p:sp>
      <p:sp>
        <p:nvSpPr>
          <p:cNvPr id="7172" name="Contenidor de número de diapositiva 4">
            <a:extLst>
              <a:ext uri="{FF2B5EF4-FFF2-40B4-BE49-F238E27FC236}">
                <a16:creationId xmlns:a16="http://schemas.microsoft.com/office/drawing/2014/main" id="{39231D9B-6211-4FCA-B0A1-C3E8D65A5625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C00000"/>
              </a:buClr>
              <a:buFont typeface="Wingdings 2" panose="05020102010507070707" pitchFamily="18" charset="2"/>
              <a:buChar char="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1410FFA-C283-428E-8B07-2311B2610812}" type="slidenum">
              <a:rPr lang="ca-ES" altLang="ca-ES">
                <a:solidFill>
                  <a:srgbClr val="898989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ca-ES" altLang="ca-ES">
              <a:solidFill>
                <a:srgbClr val="898989"/>
              </a:solidFill>
            </a:endParaRPr>
          </a:p>
        </p:txBody>
      </p:sp>
      <p:pic>
        <p:nvPicPr>
          <p:cNvPr id="3" name="Contenidor de contingut 2">
            <a:extLst>
              <a:ext uri="{FF2B5EF4-FFF2-40B4-BE49-F238E27FC236}">
                <a16:creationId xmlns:a16="http://schemas.microsoft.com/office/drawing/2014/main" id="{496EC4D9-7834-4257-B943-AF903A0691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6093296"/>
            <a:ext cx="3677994" cy="645578"/>
          </a:xfrm>
        </p:spPr>
      </p:pic>
      <p:sp>
        <p:nvSpPr>
          <p:cNvPr id="8" name="3 Rectángulo">
            <a:extLst>
              <a:ext uri="{FF2B5EF4-FFF2-40B4-BE49-F238E27FC236}">
                <a16:creationId xmlns:a16="http://schemas.microsoft.com/office/drawing/2014/main" id="{1D50A775-897D-49E7-ABA1-B4DF56817156}"/>
              </a:ext>
            </a:extLst>
          </p:cNvPr>
          <p:cNvSpPr/>
          <p:nvPr/>
        </p:nvSpPr>
        <p:spPr>
          <a:xfrm>
            <a:off x="467544" y="1052736"/>
            <a:ext cx="820891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General Objectives: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Provide objective data on climate and water needs for the adaptation of viticulture to climate change throughout the 21</a:t>
            </a:r>
            <a:r>
              <a:rPr lang="en-GB" baseline="30000" dirty="0"/>
              <a:t>st</a:t>
            </a:r>
            <a:r>
              <a:rPr lang="en-GB" dirty="0"/>
              <a:t> century. It was a joint initiative of IRTA (Institute of </a:t>
            </a:r>
            <a:r>
              <a:rPr lang="en-GB" dirty="0" err="1"/>
              <a:t>Agrifood</a:t>
            </a:r>
            <a:r>
              <a:rPr lang="en-GB" dirty="0"/>
              <a:t> Research and Technology) and the SMC (Meteorological Service of Catalonia)</a:t>
            </a:r>
          </a:p>
          <a:p>
            <a:endParaRPr lang="en-GB" dirty="0"/>
          </a:p>
          <a:p>
            <a:r>
              <a:rPr lang="en-GB" b="1" dirty="0"/>
              <a:t>Specific objective: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Climate projections</a:t>
            </a:r>
            <a:r>
              <a:rPr lang="en-GB" dirty="0"/>
              <a:t>, meteorological indices and water needs until the end of the 21</a:t>
            </a:r>
            <a:r>
              <a:rPr lang="en-GB" baseline="30000" dirty="0"/>
              <a:t>st</a:t>
            </a:r>
            <a:r>
              <a:rPr lang="en-GB" dirty="0"/>
              <a:t> century for wine production areas of the DO </a:t>
            </a:r>
            <a:r>
              <a:rPr lang="en-GB" dirty="0" err="1"/>
              <a:t>Pla</a:t>
            </a:r>
            <a:r>
              <a:rPr lang="en-GB" dirty="0"/>
              <a:t> de </a:t>
            </a:r>
            <a:r>
              <a:rPr lang="en-GB" dirty="0" err="1"/>
              <a:t>Bages</a:t>
            </a:r>
            <a:r>
              <a:rPr lang="en-GB" dirty="0"/>
              <a:t> and </a:t>
            </a:r>
            <a:r>
              <a:rPr lang="en-GB" dirty="0" err="1"/>
              <a:t>Empordà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algn="ctr"/>
            <a:r>
              <a:rPr lang="en-GB" dirty="0"/>
              <a:t>Evapotranspiration: Temperature + Irradiation + </a:t>
            </a:r>
            <a:r>
              <a:rPr lang="en-GB" b="1" dirty="0"/>
              <a:t>Wind</a:t>
            </a:r>
          </a:p>
          <a:p>
            <a:pPr algn="ctr"/>
            <a:endParaRPr lang="en-GB" b="1" dirty="0"/>
          </a:p>
          <a:p>
            <a:pPr algn="ctr"/>
            <a:endParaRPr lang="en-GB" b="1" dirty="0"/>
          </a:p>
          <a:p>
            <a:pPr algn="ctr"/>
            <a:endParaRPr lang="en-GB" b="1" dirty="0"/>
          </a:p>
          <a:p>
            <a:pPr algn="ctr"/>
            <a:r>
              <a:rPr lang="en-GB" b="1" dirty="0" err="1"/>
              <a:t>Tramuntana</a:t>
            </a:r>
            <a:endParaRPr lang="en-GB" dirty="0"/>
          </a:p>
        </p:txBody>
      </p:sp>
      <p:sp>
        <p:nvSpPr>
          <p:cNvPr id="9" name="Fletxa: avall 1">
            <a:extLst>
              <a:ext uri="{FF2B5EF4-FFF2-40B4-BE49-F238E27FC236}">
                <a16:creationId xmlns:a16="http://schemas.microsoft.com/office/drawing/2014/main" id="{6E6D1649-81F2-4B27-947D-66A00CD1FD3F}"/>
              </a:ext>
            </a:extLst>
          </p:cNvPr>
          <p:cNvSpPr/>
          <p:nvPr/>
        </p:nvSpPr>
        <p:spPr>
          <a:xfrm>
            <a:off x="4346144" y="4149080"/>
            <a:ext cx="432048" cy="506412"/>
          </a:xfrm>
          <a:prstGeom prst="downArrow">
            <a:avLst>
              <a:gd name="adj1" fmla="val 45449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10" name="Fletxa: avall 5">
            <a:extLst>
              <a:ext uri="{FF2B5EF4-FFF2-40B4-BE49-F238E27FC236}">
                <a16:creationId xmlns:a16="http://schemas.microsoft.com/office/drawing/2014/main" id="{9E732FEC-3AEF-49AC-8838-484D60308833}"/>
              </a:ext>
            </a:extLst>
          </p:cNvPr>
          <p:cNvSpPr/>
          <p:nvPr/>
        </p:nvSpPr>
        <p:spPr>
          <a:xfrm>
            <a:off x="4355976" y="5106750"/>
            <a:ext cx="432048" cy="5730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ol 1">
            <a:extLst>
              <a:ext uri="{FF2B5EF4-FFF2-40B4-BE49-F238E27FC236}">
                <a16:creationId xmlns:a16="http://schemas.microsoft.com/office/drawing/2014/main" id="{87832F86-5FED-4835-A8C7-BFB345636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a-ES" altLang="ca-ES" dirty="0" err="1"/>
              <a:t>The</a:t>
            </a:r>
            <a:r>
              <a:rPr lang="ca-ES" altLang="ca-ES" dirty="0"/>
              <a:t> CLIMAVIT 21 </a:t>
            </a:r>
            <a:r>
              <a:rPr lang="ca-ES" altLang="ca-ES" dirty="0" err="1"/>
              <a:t>project</a:t>
            </a:r>
            <a:endParaRPr lang="ca-ES" altLang="ca-ES" dirty="0"/>
          </a:p>
        </p:txBody>
      </p:sp>
      <p:sp>
        <p:nvSpPr>
          <p:cNvPr id="7172" name="Contenidor de número de diapositiva 4">
            <a:extLst>
              <a:ext uri="{FF2B5EF4-FFF2-40B4-BE49-F238E27FC236}">
                <a16:creationId xmlns:a16="http://schemas.microsoft.com/office/drawing/2014/main" id="{39231D9B-6211-4FCA-B0A1-C3E8D65A5625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C00000"/>
              </a:buClr>
              <a:buFont typeface="Wingdings 2" panose="05020102010507070707" pitchFamily="18" charset="2"/>
              <a:buChar char="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1410FFA-C283-428E-8B07-2311B2610812}" type="slidenum">
              <a:rPr lang="ca-ES" altLang="ca-ES">
                <a:solidFill>
                  <a:srgbClr val="898989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ca-ES" altLang="ca-ES">
              <a:solidFill>
                <a:srgbClr val="898989"/>
              </a:solidFill>
            </a:endParaRPr>
          </a:p>
        </p:txBody>
      </p:sp>
      <p:pic>
        <p:nvPicPr>
          <p:cNvPr id="3" name="Contenidor de contingut 2">
            <a:extLst>
              <a:ext uri="{FF2B5EF4-FFF2-40B4-BE49-F238E27FC236}">
                <a16:creationId xmlns:a16="http://schemas.microsoft.com/office/drawing/2014/main" id="{496EC4D9-7834-4257-B943-AF903A0691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6093296"/>
            <a:ext cx="3677994" cy="645578"/>
          </a:xfrm>
        </p:spPr>
      </p:pic>
      <p:pic>
        <p:nvPicPr>
          <p:cNvPr id="2050" name="Picture 2" descr="Mediterranean map">
            <a:extLst>
              <a:ext uri="{FF2B5EF4-FFF2-40B4-BE49-F238E27FC236}">
                <a16:creationId xmlns:a16="http://schemas.microsoft.com/office/drawing/2014/main" id="{E1852849-FB67-4B58-B512-FB38DD9621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82"/>
          <a:stretch/>
        </p:blipFill>
        <p:spPr bwMode="auto">
          <a:xfrm>
            <a:off x="471736" y="1239647"/>
            <a:ext cx="5346877" cy="2628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 O Cataluña">
            <a:extLst>
              <a:ext uri="{FF2B5EF4-FFF2-40B4-BE49-F238E27FC236}">
                <a16:creationId xmlns:a16="http://schemas.microsoft.com/office/drawing/2014/main" id="{8375531B-C111-49F4-9260-3F820D77A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2470150"/>
            <a:ext cx="38100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A2ABA242-9C44-46B1-B713-A175E3254334}"/>
              </a:ext>
            </a:extLst>
          </p:cNvPr>
          <p:cNvSpPr/>
          <p:nvPr/>
        </p:nvSpPr>
        <p:spPr>
          <a:xfrm>
            <a:off x="1619672" y="1916832"/>
            <a:ext cx="432048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C858339-5C2D-4713-AEDE-9B7CE252A870}"/>
              </a:ext>
            </a:extLst>
          </p:cNvPr>
          <p:cNvSpPr/>
          <p:nvPr/>
        </p:nvSpPr>
        <p:spPr>
          <a:xfrm>
            <a:off x="7668344" y="2708920"/>
            <a:ext cx="1080120" cy="17281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6F5F017-9524-4F96-B021-BF200E3BD40B}"/>
              </a:ext>
            </a:extLst>
          </p:cNvPr>
          <p:cNvSpPr txBox="1"/>
          <p:nvPr/>
        </p:nvSpPr>
        <p:spPr>
          <a:xfrm>
            <a:off x="6024741" y="5621893"/>
            <a:ext cx="26019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0" i="0" dirty="0" err="1">
                <a:solidFill>
                  <a:srgbClr val="212529"/>
                </a:solidFill>
                <a:effectLst/>
                <a:latin typeface="Helvetica" panose="020B0604020202020204" pitchFamily="34" charset="0"/>
              </a:rPr>
              <a:t>Designation</a:t>
            </a:r>
            <a:r>
              <a:rPr lang="es-ES" sz="1600" b="0" i="0" dirty="0">
                <a:solidFill>
                  <a:srgbClr val="212529"/>
                </a:solidFill>
                <a:effectLst/>
                <a:latin typeface="Helvetica" panose="020B0604020202020204" pitchFamily="34" charset="0"/>
              </a:rPr>
              <a:t> </a:t>
            </a:r>
            <a:r>
              <a:rPr lang="es-ES" sz="1600" b="0" i="0" dirty="0" err="1">
                <a:solidFill>
                  <a:srgbClr val="212529"/>
                </a:solidFill>
                <a:effectLst/>
                <a:latin typeface="Helvetica" panose="020B0604020202020204" pitchFamily="34" charset="0"/>
              </a:rPr>
              <a:t>of</a:t>
            </a:r>
            <a:r>
              <a:rPr lang="es-ES" sz="1600" b="0" i="0" dirty="0">
                <a:solidFill>
                  <a:srgbClr val="212529"/>
                </a:solidFill>
                <a:effectLst/>
                <a:latin typeface="Helvetica" panose="020B0604020202020204" pitchFamily="34" charset="0"/>
              </a:rPr>
              <a:t> </a:t>
            </a:r>
            <a:r>
              <a:rPr lang="es-ES" sz="1600" b="0" i="0" dirty="0" err="1">
                <a:solidFill>
                  <a:srgbClr val="212529"/>
                </a:solidFill>
                <a:effectLst/>
                <a:latin typeface="Helvetica" panose="020B0604020202020204" pitchFamily="34" charset="0"/>
              </a:rPr>
              <a:t>Origin</a:t>
            </a:r>
            <a:r>
              <a:rPr lang="es-ES" sz="1600" b="0" i="0" dirty="0">
                <a:solidFill>
                  <a:srgbClr val="212529"/>
                </a:solidFill>
                <a:effectLst/>
                <a:latin typeface="Helvetica" panose="020B0604020202020204" pitchFamily="34" charset="0"/>
              </a:rPr>
              <a:t> (DO)</a:t>
            </a:r>
          </a:p>
          <a:p>
            <a:pPr algn="ctr"/>
            <a:r>
              <a:rPr lang="es-ES" sz="1600" b="0" i="0" dirty="0" err="1">
                <a:solidFill>
                  <a:srgbClr val="212529"/>
                </a:solidFill>
                <a:effectLst/>
                <a:latin typeface="Helvetica" panose="020B0604020202020204" pitchFamily="34" charset="0"/>
              </a:rPr>
              <a:t>regions</a:t>
            </a:r>
            <a:endParaRPr lang="es-ES" sz="1600" b="0" i="0" dirty="0">
              <a:solidFill>
                <a:srgbClr val="212529"/>
              </a:solidFill>
              <a:effectLst/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0351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ol 1">
            <a:extLst>
              <a:ext uri="{FF2B5EF4-FFF2-40B4-BE49-F238E27FC236}">
                <a16:creationId xmlns:a16="http://schemas.microsoft.com/office/drawing/2014/main" id="{87832F86-5FED-4835-A8C7-BFB345636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a-ES" altLang="ca-ES" dirty="0" err="1"/>
              <a:t>Why</a:t>
            </a:r>
            <a:r>
              <a:rPr lang="ca-ES" altLang="ca-ES" dirty="0"/>
              <a:t> </a:t>
            </a:r>
            <a:r>
              <a:rPr lang="ca-ES" altLang="ca-ES" dirty="0" err="1"/>
              <a:t>analyze</a:t>
            </a:r>
            <a:r>
              <a:rPr lang="ca-ES" altLang="ca-ES" dirty="0"/>
              <a:t> </a:t>
            </a:r>
            <a:r>
              <a:rPr lang="ca-ES" altLang="ca-ES" dirty="0" err="1"/>
              <a:t>the</a:t>
            </a:r>
            <a:r>
              <a:rPr lang="ca-ES" altLang="ca-ES" dirty="0"/>
              <a:t> Tramuntana?</a:t>
            </a:r>
          </a:p>
        </p:txBody>
      </p:sp>
      <p:sp>
        <p:nvSpPr>
          <p:cNvPr id="7172" name="Contenidor de número de diapositiva 4">
            <a:extLst>
              <a:ext uri="{FF2B5EF4-FFF2-40B4-BE49-F238E27FC236}">
                <a16:creationId xmlns:a16="http://schemas.microsoft.com/office/drawing/2014/main" id="{39231D9B-6211-4FCA-B0A1-C3E8D65A5625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C00000"/>
              </a:buClr>
              <a:buFont typeface="Wingdings 2" panose="05020102010507070707" pitchFamily="18" charset="2"/>
              <a:buChar char="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1410FFA-C283-428E-8B07-2311B2610812}" type="slidenum">
              <a:rPr lang="ca-ES" altLang="ca-ES">
                <a:solidFill>
                  <a:srgbClr val="898989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ca-ES" altLang="ca-ES">
              <a:solidFill>
                <a:srgbClr val="898989"/>
              </a:solidFill>
            </a:endParaRPr>
          </a:p>
        </p:txBody>
      </p:sp>
      <p:pic>
        <p:nvPicPr>
          <p:cNvPr id="3" name="Contenidor de contingut 2">
            <a:extLst>
              <a:ext uri="{FF2B5EF4-FFF2-40B4-BE49-F238E27FC236}">
                <a16:creationId xmlns:a16="http://schemas.microsoft.com/office/drawing/2014/main" id="{496EC4D9-7834-4257-B943-AF903A0691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6093296"/>
            <a:ext cx="3677994" cy="645578"/>
          </a:xfrm>
        </p:spPr>
      </p:pic>
      <p:pic>
        <p:nvPicPr>
          <p:cNvPr id="9" name="Imatge 3">
            <a:extLst>
              <a:ext uri="{FF2B5EF4-FFF2-40B4-BE49-F238E27FC236}">
                <a16:creationId xmlns:a16="http://schemas.microsoft.com/office/drawing/2014/main" id="{031D6096-A79B-469F-ABF5-FC2E279E0C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138" t="31573" r="20075" b="5963"/>
          <a:stretch/>
        </p:blipFill>
        <p:spPr>
          <a:xfrm>
            <a:off x="97444" y="1340768"/>
            <a:ext cx="9046556" cy="4752528"/>
          </a:xfrm>
          <a:prstGeom prst="rect">
            <a:avLst/>
          </a:prstGeom>
        </p:spPr>
      </p:pic>
      <p:sp>
        <p:nvSpPr>
          <p:cNvPr id="10" name="QuadreDeText 8">
            <a:extLst>
              <a:ext uri="{FF2B5EF4-FFF2-40B4-BE49-F238E27FC236}">
                <a16:creationId xmlns:a16="http://schemas.microsoft.com/office/drawing/2014/main" id="{FB0604C3-100D-4858-ABD8-04063160B427}"/>
              </a:ext>
            </a:extLst>
          </p:cNvPr>
          <p:cNvSpPr txBox="1"/>
          <p:nvPr/>
        </p:nvSpPr>
        <p:spPr>
          <a:xfrm>
            <a:off x="6660232" y="6106233"/>
            <a:ext cx="2206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1400" dirty="0" err="1"/>
              <a:t>Source</a:t>
            </a:r>
            <a:r>
              <a:rPr lang="ca-ES" sz="1400" dirty="0"/>
              <a:t>: Vicent Altava (SMC)</a:t>
            </a:r>
          </a:p>
        </p:txBody>
      </p:sp>
    </p:spTree>
    <p:extLst>
      <p:ext uri="{BB962C8B-B14F-4D97-AF65-F5344CB8AC3E}">
        <p14:creationId xmlns:p14="http://schemas.microsoft.com/office/powerpoint/2010/main" val="1230790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ol 1">
            <a:extLst>
              <a:ext uri="{FF2B5EF4-FFF2-40B4-BE49-F238E27FC236}">
                <a16:creationId xmlns:a16="http://schemas.microsoft.com/office/drawing/2014/main" id="{87832F86-5FED-4835-A8C7-BFB345636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ca-ES" dirty="0"/>
              <a:t>1. Identification of </a:t>
            </a:r>
            <a:r>
              <a:rPr lang="en-CA" altLang="ca-ES" dirty="0" err="1"/>
              <a:t>tramuntana</a:t>
            </a:r>
            <a:r>
              <a:rPr lang="en-CA" altLang="ca-ES" dirty="0"/>
              <a:t> episodes (1998-2019)</a:t>
            </a:r>
          </a:p>
        </p:txBody>
      </p:sp>
      <p:sp>
        <p:nvSpPr>
          <p:cNvPr id="7172" name="Contenidor de número de diapositiva 4">
            <a:extLst>
              <a:ext uri="{FF2B5EF4-FFF2-40B4-BE49-F238E27FC236}">
                <a16:creationId xmlns:a16="http://schemas.microsoft.com/office/drawing/2014/main" id="{39231D9B-6211-4FCA-B0A1-C3E8D65A5625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C00000"/>
              </a:buClr>
              <a:buFont typeface="Wingdings 2" panose="05020102010507070707" pitchFamily="18" charset="2"/>
              <a:buChar char="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1410FFA-C283-428E-8B07-2311B2610812}" type="slidenum">
              <a:rPr lang="ca-ES" altLang="ca-ES">
                <a:solidFill>
                  <a:srgbClr val="898989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ca-ES" altLang="ca-ES">
              <a:solidFill>
                <a:srgbClr val="898989"/>
              </a:solidFill>
            </a:endParaRPr>
          </a:p>
        </p:txBody>
      </p:sp>
      <p:pic>
        <p:nvPicPr>
          <p:cNvPr id="3" name="Contenidor de contingut 2">
            <a:extLst>
              <a:ext uri="{FF2B5EF4-FFF2-40B4-BE49-F238E27FC236}">
                <a16:creationId xmlns:a16="http://schemas.microsoft.com/office/drawing/2014/main" id="{496EC4D9-7834-4257-B943-AF903A0691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6093296"/>
            <a:ext cx="3677994" cy="645578"/>
          </a:xfrm>
        </p:spPr>
      </p:pic>
      <p:grpSp>
        <p:nvGrpSpPr>
          <p:cNvPr id="7" name="Agrupa 26">
            <a:extLst>
              <a:ext uri="{FF2B5EF4-FFF2-40B4-BE49-F238E27FC236}">
                <a16:creationId xmlns:a16="http://schemas.microsoft.com/office/drawing/2014/main" id="{0DB98EA0-A917-4E57-9FD4-8C835AA97D47}"/>
              </a:ext>
            </a:extLst>
          </p:cNvPr>
          <p:cNvGrpSpPr/>
          <p:nvPr/>
        </p:nvGrpSpPr>
        <p:grpSpPr>
          <a:xfrm>
            <a:off x="311145" y="1801334"/>
            <a:ext cx="4621378" cy="3528392"/>
            <a:chOff x="1331640" y="1772816"/>
            <a:chExt cx="4621378" cy="3528392"/>
          </a:xfrm>
        </p:grpSpPr>
        <p:grpSp>
          <p:nvGrpSpPr>
            <p:cNvPr id="8" name="Agrupa 5">
              <a:extLst>
                <a:ext uri="{FF2B5EF4-FFF2-40B4-BE49-F238E27FC236}">
                  <a16:creationId xmlns:a16="http://schemas.microsoft.com/office/drawing/2014/main" id="{58511A21-DD85-49B4-A704-0945CA5919D3}"/>
                </a:ext>
              </a:extLst>
            </p:cNvPr>
            <p:cNvGrpSpPr/>
            <p:nvPr/>
          </p:nvGrpSpPr>
          <p:grpSpPr>
            <a:xfrm>
              <a:off x="1331640" y="1772816"/>
              <a:ext cx="4621378" cy="3528392"/>
              <a:chOff x="2974958" y="1916833"/>
              <a:chExt cx="4621378" cy="3528392"/>
            </a:xfrm>
          </p:grpSpPr>
          <p:pic>
            <p:nvPicPr>
              <p:cNvPr id="13" name="Imatge 1">
                <a:extLst>
                  <a:ext uri="{FF2B5EF4-FFF2-40B4-BE49-F238E27FC236}">
                    <a16:creationId xmlns:a16="http://schemas.microsoft.com/office/drawing/2014/main" id="{B6B5A071-6CDC-47AE-8583-A95F4FED877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32535" t="19173" r="16926" b="8897"/>
              <a:stretch/>
            </p:blipFill>
            <p:spPr>
              <a:xfrm>
                <a:off x="2974958" y="1916833"/>
                <a:ext cx="4621378" cy="3528392"/>
              </a:xfrm>
              <a:prstGeom prst="rect">
                <a:avLst/>
              </a:prstGeom>
            </p:spPr>
          </p:pic>
          <p:sp>
            <p:nvSpPr>
              <p:cNvPr id="14" name="Pentàgon 4">
                <a:extLst>
                  <a:ext uri="{FF2B5EF4-FFF2-40B4-BE49-F238E27FC236}">
                    <a16:creationId xmlns:a16="http://schemas.microsoft.com/office/drawing/2014/main" id="{22D9294C-FC97-4AD1-8216-DB0F437E0AD2}"/>
                  </a:ext>
                </a:extLst>
              </p:cNvPr>
              <p:cNvSpPr/>
              <p:nvPr/>
            </p:nvSpPr>
            <p:spPr>
              <a:xfrm>
                <a:off x="5724128" y="2492896"/>
                <a:ext cx="180752" cy="216024"/>
              </a:xfrm>
              <a:prstGeom prst="pentagon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a-ES"/>
              </a:p>
            </p:txBody>
          </p:sp>
          <p:sp>
            <p:nvSpPr>
              <p:cNvPr id="15" name="Pentàgon 8">
                <a:extLst>
                  <a:ext uri="{FF2B5EF4-FFF2-40B4-BE49-F238E27FC236}">
                    <a16:creationId xmlns:a16="http://schemas.microsoft.com/office/drawing/2014/main" id="{9179CFAC-A19C-48C0-9490-80140CC590FC}"/>
                  </a:ext>
                </a:extLst>
              </p:cNvPr>
              <p:cNvSpPr/>
              <p:nvPr/>
            </p:nvSpPr>
            <p:spPr>
              <a:xfrm>
                <a:off x="5004048" y="2780928"/>
                <a:ext cx="180752" cy="216024"/>
              </a:xfrm>
              <a:prstGeom prst="pentagon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ca-ES"/>
              </a:p>
            </p:txBody>
          </p:sp>
          <p:sp>
            <p:nvSpPr>
              <p:cNvPr id="16" name="Pentàgon 10">
                <a:extLst>
                  <a:ext uri="{FF2B5EF4-FFF2-40B4-BE49-F238E27FC236}">
                    <a16:creationId xmlns:a16="http://schemas.microsoft.com/office/drawing/2014/main" id="{7FF352D6-641C-45C7-B938-A769EB980B95}"/>
                  </a:ext>
                </a:extLst>
              </p:cNvPr>
              <p:cNvSpPr/>
              <p:nvPr/>
            </p:nvSpPr>
            <p:spPr>
              <a:xfrm>
                <a:off x="4247232" y="2996952"/>
                <a:ext cx="180752" cy="216024"/>
              </a:xfrm>
              <a:prstGeom prst="pentagon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ca-ES"/>
              </a:p>
            </p:txBody>
          </p:sp>
          <p:sp>
            <p:nvSpPr>
              <p:cNvPr id="17" name="Pentàgon 11">
                <a:extLst>
                  <a:ext uri="{FF2B5EF4-FFF2-40B4-BE49-F238E27FC236}">
                    <a16:creationId xmlns:a16="http://schemas.microsoft.com/office/drawing/2014/main" id="{A68C19BD-F411-45C1-A1A6-C4B7BB12C560}"/>
                  </a:ext>
                </a:extLst>
              </p:cNvPr>
              <p:cNvSpPr/>
              <p:nvPr/>
            </p:nvSpPr>
            <p:spPr>
              <a:xfrm>
                <a:off x="5788862" y="3440589"/>
                <a:ext cx="180752" cy="216024"/>
              </a:xfrm>
              <a:prstGeom prst="pentagon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ca-ES"/>
              </a:p>
            </p:txBody>
          </p:sp>
          <p:sp>
            <p:nvSpPr>
              <p:cNvPr id="18" name="Pentàgon 12">
                <a:extLst>
                  <a:ext uri="{FF2B5EF4-FFF2-40B4-BE49-F238E27FC236}">
                    <a16:creationId xmlns:a16="http://schemas.microsoft.com/office/drawing/2014/main" id="{39BD6E13-B0CC-453D-9986-4D723A8D4C36}"/>
                  </a:ext>
                </a:extLst>
              </p:cNvPr>
              <p:cNvSpPr/>
              <p:nvPr/>
            </p:nvSpPr>
            <p:spPr>
              <a:xfrm>
                <a:off x="4788024" y="3196451"/>
                <a:ext cx="180752" cy="216024"/>
              </a:xfrm>
              <a:prstGeom prst="pentagon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a-ES"/>
              </a:p>
            </p:txBody>
          </p:sp>
          <p:sp>
            <p:nvSpPr>
              <p:cNvPr id="19" name="Pentàgon 14">
                <a:extLst>
                  <a:ext uri="{FF2B5EF4-FFF2-40B4-BE49-F238E27FC236}">
                    <a16:creationId xmlns:a16="http://schemas.microsoft.com/office/drawing/2014/main" id="{54FD8745-0AD2-4EFB-9471-B20C4A9F081D}"/>
                  </a:ext>
                </a:extLst>
              </p:cNvPr>
              <p:cNvSpPr/>
              <p:nvPr/>
            </p:nvSpPr>
            <p:spPr>
              <a:xfrm>
                <a:off x="5364088" y="3573016"/>
                <a:ext cx="180752" cy="216024"/>
              </a:xfrm>
              <a:prstGeom prst="pentagon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ca-ES"/>
              </a:p>
            </p:txBody>
          </p:sp>
          <p:sp>
            <p:nvSpPr>
              <p:cNvPr id="20" name="Pentàgon 15">
                <a:extLst>
                  <a:ext uri="{FF2B5EF4-FFF2-40B4-BE49-F238E27FC236}">
                    <a16:creationId xmlns:a16="http://schemas.microsoft.com/office/drawing/2014/main" id="{3F988E74-03E2-424C-968A-8A43EFC93085}"/>
                  </a:ext>
                </a:extLst>
              </p:cNvPr>
              <p:cNvSpPr/>
              <p:nvPr/>
            </p:nvSpPr>
            <p:spPr>
              <a:xfrm>
                <a:off x="4391248" y="3681028"/>
                <a:ext cx="180752" cy="216024"/>
              </a:xfrm>
              <a:prstGeom prst="pentagon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ca-ES"/>
              </a:p>
            </p:txBody>
          </p:sp>
          <p:sp>
            <p:nvSpPr>
              <p:cNvPr id="21" name="Pentàgon 16">
                <a:extLst>
                  <a:ext uri="{FF2B5EF4-FFF2-40B4-BE49-F238E27FC236}">
                    <a16:creationId xmlns:a16="http://schemas.microsoft.com/office/drawing/2014/main" id="{F8E2123C-E0FD-4FFC-BFC3-A5FD00871A72}"/>
                  </a:ext>
                </a:extLst>
              </p:cNvPr>
              <p:cNvSpPr/>
              <p:nvPr/>
            </p:nvSpPr>
            <p:spPr>
              <a:xfrm>
                <a:off x="5436096" y="4005064"/>
                <a:ext cx="180752" cy="216024"/>
              </a:xfrm>
              <a:prstGeom prst="pentagon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ca-ES"/>
              </a:p>
            </p:txBody>
          </p:sp>
          <p:sp>
            <p:nvSpPr>
              <p:cNvPr id="22" name="Pentàgon 17">
                <a:extLst>
                  <a:ext uri="{FF2B5EF4-FFF2-40B4-BE49-F238E27FC236}">
                    <a16:creationId xmlns:a16="http://schemas.microsoft.com/office/drawing/2014/main" id="{3919B80B-C21F-474F-ABB2-37C8300A2220}"/>
                  </a:ext>
                </a:extLst>
              </p:cNvPr>
              <p:cNvSpPr/>
              <p:nvPr/>
            </p:nvSpPr>
            <p:spPr>
              <a:xfrm>
                <a:off x="5255344" y="3933056"/>
                <a:ext cx="180752" cy="216024"/>
              </a:xfrm>
              <a:prstGeom prst="pentagon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ca-ES"/>
              </a:p>
            </p:txBody>
          </p:sp>
          <p:sp>
            <p:nvSpPr>
              <p:cNvPr id="23" name="Pentàgon 18">
                <a:extLst>
                  <a:ext uri="{FF2B5EF4-FFF2-40B4-BE49-F238E27FC236}">
                    <a16:creationId xmlns:a16="http://schemas.microsoft.com/office/drawing/2014/main" id="{F9EEC650-6578-46C0-97DF-8E62DA340489}"/>
                  </a:ext>
                </a:extLst>
              </p:cNvPr>
              <p:cNvSpPr/>
              <p:nvPr/>
            </p:nvSpPr>
            <p:spPr>
              <a:xfrm>
                <a:off x="4066480" y="4293096"/>
                <a:ext cx="180752" cy="216024"/>
              </a:xfrm>
              <a:prstGeom prst="pentagon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ca-ES"/>
              </a:p>
            </p:txBody>
          </p:sp>
          <p:sp>
            <p:nvSpPr>
              <p:cNvPr id="24" name="Pentàgon 19">
                <a:extLst>
                  <a:ext uri="{FF2B5EF4-FFF2-40B4-BE49-F238E27FC236}">
                    <a16:creationId xmlns:a16="http://schemas.microsoft.com/office/drawing/2014/main" id="{4FC4BC08-66D4-4A6C-82AB-2BBB180D5F66}"/>
                  </a:ext>
                </a:extLst>
              </p:cNvPr>
              <p:cNvSpPr/>
              <p:nvPr/>
            </p:nvSpPr>
            <p:spPr>
              <a:xfrm>
                <a:off x="3347864" y="5203799"/>
                <a:ext cx="180752" cy="216024"/>
              </a:xfrm>
              <a:prstGeom prst="pentagon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ca-ES"/>
              </a:p>
            </p:txBody>
          </p:sp>
          <p:sp>
            <p:nvSpPr>
              <p:cNvPr id="25" name="Pentàgon 20">
                <a:extLst>
                  <a:ext uri="{FF2B5EF4-FFF2-40B4-BE49-F238E27FC236}">
                    <a16:creationId xmlns:a16="http://schemas.microsoft.com/office/drawing/2014/main" id="{8A81914C-F661-4489-9457-59FABF0FD3BC}"/>
                  </a:ext>
                </a:extLst>
              </p:cNvPr>
              <p:cNvSpPr/>
              <p:nvPr/>
            </p:nvSpPr>
            <p:spPr>
              <a:xfrm>
                <a:off x="4151798" y="5062494"/>
                <a:ext cx="180752" cy="216024"/>
              </a:xfrm>
              <a:prstGeom prst="pentagon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ca-ES"/>
              </a:p>
            </p:txBody>
          </p:sp>
          <p:sp>
            <p:nvSpPr>
              <p:cNvPr id="26" name="Pentàgon 21">
                <a:extLst>
                  <a:ext uri="{FF2B5EF4-FFF2-40B4-BE49-F238E27FC236}">
                    <a16:creationId xmlns:a16="http://schemas.microsoft.com/office/drawing/2014/main" id="{5541D532-3C8D-487F-B249-1B3100E0EF6B}"/>
                  </a:ext>
                </a:extLst>
              </p:cNvPr>
              <p:cNvSpPr/>
              <p:nvPr/>
            </p:nvSpPr>
            <p:spPr>
              <a:xfrm>
                <a:off x="5285647" y="4700235"/>
                <a:ext cx="180752" cy="216024"/>
              </a:xfrm>
              <a:prstGeom prst="pentagon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ca-ES"/>
              </a:p>
            </p:txBody>
          </p:sp>
          <p:sp>
            <p:nvSpPr>
              <p:cNvPr id="27" name="Pentàgon 22">
                <a:extLst>
                  <a:ext uri="{FF2B5EF4-FFF2-40B4-BE49-F238E27FC236}">
                    <a16:creationId xmlns:a16="http://schemas.microsoft.com/office/drawing/2014/main" id="{AB1ADF0F-611E-4DC2-BA3B-69066F00C1B1}"/>
                  </a:ext>
                </a:extLst>
              </p:cNvPr>
              <p:cNvSpPr/>
              <p:nvPr/>
            </p:nvSpPr>
            <p:spPr>
              <a:xfrm>
                <a:off x="5652120" y="4869160"/>
                <a:ext cx="180752" cy="216024"/>
              </a:xfrm>
              <a:prstGeom prst="pentagon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ca-ES"/>
              </a:p>
            </p:txBody>
          </p:sp>
          <p:sp>
            <p:nvSpPr>
              <p:cNvPr id="28" name="Pentàgon 23">
                <a:extLst>
                  <a:ext uri="{FF2B5EF4-FFF2-40B4-BE49-F238E27FC236}">
                    <a16:creationId xmlns:a16="http://schemas.microsoft.com/office/drawing/2014/main" id="{1F41DB27-31FB-4031-A2CF-6D9F35EDA853}"/>
                  </a:ext>
                </a:extLst>
              </p:cNvPr>
              <p:cNvSpPr/>
              <p:nvPr/>
            </p:nvSpPr>
            <p:spPr>
              <a:xfrm>
                <a:off x="5165959" y="5157193"/>
                <a:ext cx="180752" cy="216024"/>
              </a:xfrm>
              <a:prstGeom prst="pentagon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ca-ES"/>
              </a:p>
            </p:txBody>
          </p:sp>
          <p:sp>
            <p:nvSpPr>
              <p:cNvPr id="29" name="Pentàgon 24">
                <a:extLst>
                  <a:ext uri="{FF2B5EF4-FFF2-40B4-BE49-F238E27FC236}">
                    <a16:creationId xmlns:a16="http://schemas.microsoft.com/office/drawing/2014/main" id="{8F039E2C-ED17-4F13-8729-7D315F59AB78}"/>
                  </a:ext>
                </a:extLst>
              </p:cNvPr>
              <p:cNvSpPr/>
              <p:nvPr/>
            </p:nvSpPr>
            <p:spPr>
              <a:xfrm>
                <a:off x="4985207" y="5145104"/>
                <a:ext cx="180752" cy="216024"/>
              </a:xfrm>
              <a:prstGeom prst="pentagon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ca-ES"/>
              </a:p>
            </p:txBody>
          </p:sp>
        </p:grpSp>
        <p:sp>
          <p:nvSpPr>
            <p:cNvPr id="11" name="QuadreDeText 6">
              <a:extLst>
                <a:ext uri="{FF2B5EF4-FFF2-40B4-BE49-F238E27FC236}">
                  <a16:creationId xmlns:a16="http://schemas.microsoft.com/office/drawing/2014/main" id="{C0D7C422-04B9-4932-9155-458A8C2B12D0}"/>
                </a:ext>
              </a:extLst>
            </p:cNvPr>
            <p:cNvSpPr txBox="1"/>
            <p:nvPr/>
          </p:nvSpPr>
          <p:spPr>
            <a:xfrm>
              <a:off x="4261562" y="2276872"/>
              <a:ext cx="7757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a-ES" sz="1400" dirty="0"/>
                <a:t>Portbou</a:t>
              </a:r>
            </a:p>
          </p:txBody>
        </p:sp>
        <p:sp>
          <p:nvSpPr>
            <p:cNvPr id="12" name="QuadreDeText 25">
              <a:extLst>
                <a:ext uri="{FF2B5EF4-FFF2-40B4-BE49-F238E27FC236}">
                  <a16:creationId xmlns:a16="http://schemas.microsoft.com/office/drawing/2014/main" id="{4091CAF2-EB51-436C-91C5-8CA2D9FEC299}"/>
                </a:ext>
              </a:extLst>
            </p:cNvPr>
            <p:cNvSpPr txBox="1"/>
            <p:nvPr/>
          </p:nvSpPr>
          <p:spPr>
            <a:xfrm>
              <a:off x="3336527" y="2962404"/>
              <a:ext cx="8034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a-ES" sz="1400" dirty="0"/>
                <a:t>Cabanes</a:t>
              </a:r>
            </a:p>
          </p:txBody>
        </p:sp>
      </p:grpSp>
      <p:pic>
        <p:nvPicPr>
          <p:cNvPr id="30" name="Imatge 27">
            <a:extLst>
              <a:ext uri="{FF2B5EF4-FFF2-40B4-BE49-F238E27FC236}">
                <a16:creationId xmlns:a16="http://schemas.microsoft.com/office/drawing/2014/main" id="{1D7DD0BC-4A10-4118-B436-65B3EE49809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0197" y="1128486"/>
            <a:ext cx="2871470" cy="323977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QuadreDeText 28">
            <a:extLst>
              <a:ext uri="{FF2B5EF4-FFF2-40B4-BE49-F238E27FC236}">
                <a16:creationId xmlns:a16="http://schemas.microsoft.com/office/drawing/2014/main" id="{9944D393-9B70-45D2-BA8E-BB985E4D4F2F}"/>
              </a:ext>
            </a:extLst>
          </p:cNvPr>
          <p:cNvSpPr txBox="1"/>
          <p:nvPr/>
        </p:nvSpPr>
        <p:spPr>
          <a:xfrm>
            <a:off x="311145" y="5475334"/>
            <a:ext cx="3397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err="1"/>
              <a:t>Portbou</a:t>
            </a:r>
            <a:r>
              <a:rPr lang="en-CA" dirty="0"/>
              <a:t> and Cabanes (1998-2019)</a:t>
            </a:r>
          </a:p>
        </p:txBody>
      </p:sp>
      <p:sp>
        <p:nvSpPr>
          <p:cNvPr id="32" name="Rectangle 29">
            <a:extLst>
              <a:ext uri="{FF2B5EF4-FFF2-40B4-BE49-F238E27FC236}">
                <a16:creationId xmlns:a16="http://schemas.microsoft.com/office/drawing/2014/main" id="{548C62EE-D36E-4F30-911F-E322DFFA905A}"/>
              </a:ext>
            </a:extLst>
          </p:cNvPr>
          <p:cNvSpPr/>
          <p:nvPr/>
        </p:nvSpPr>
        <p:spPr>
          <a:xfrm>
            <a:off x="5012393" y="4473389"/>
            <a:ext cx="407141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9750" indent="-228600" algn="just">
              <a:buFont typeface="+mj-lt"/>
              <a:buAutoNum type="arabicPeriod"/>
            </a:pPr>
            <a:r>
              <a:rPr lang="en-CA" sz="1600" dirty="0" err="1"/>
              <a:t>Portbou</a:t>
            </a:r>
            <a:r>
              <a:rPr lang="en-CA" sz="1600" dirty="0"/>
              <a:t> sentinel station:</a:t>
            </a:r>
          </a:p>
          <a:p>
            <a:pPr marL="900113" indent="-171450" algn="just">
              <a:buFont typeface="Courier New" panose="02070309020205020404" pitchFamily="49" charset="0"/>
              <a:buChar char="o"/>
            </a:pPr>
            <a:r>
              <a:rPr lang="en-CA" sz="1600" dirty="0"/>
              <a:t>0 ≥ WD ≤ 22.5   o r  320 ≥ WD ≤ 360</a:t>
            </a:r>
          </a:p>
          <a:p>
            <a:pPr marL="900113" indent="-171450" algn="just">
              <a:buFont typeface="Courier New" panose="02070309020205020404" pitchFamily="49" charset="0"/>
              <a:buChar char="o"/>
            </a:pPr>
            <a:r>
              <a:rPr lang="en-CA" sz="1600" dirty="0" err="1"/>
              <a:t>Wx</a:t>
            </a:r>
            <a:r>
              <a:rPr lang="en-CA" sz="1600" dirty="0"/>
              <a:t> &gt; 90 km/h</a:t>
            </a:r>
          </a:p>
          <a:p>
            <a:pPr marL="539750" indent="-228600" algn="just">
              <a:buFont typeface="+mj-lt"/>
              <a:buAutoNum type="arabicPeriod" startAt="2"/>
            </a:pPr>
            <a:r>
              <a:rPr lang="en-CA" sz="1600" dirty="0"/>
              <a:t>Cabanes identifier of the episodes:</a:t>
            </a:r>
          </a:p>
          <a:p>
            <a:pPr marL="900113" indent="-171450" algn="just">
              <a:buFont typeface="Courier New" panose="02070309020205020404" pitchFamily="49" charset="0"/>
              <a:buChar char="o"/>
            </a:pPr>
            <a:r>
              <a:rPr lang="en-CA" sz="1600" dirty="0"/>
              <a:t>Same filters</a:t>
            </a:r>
          </a:p>
          <a:p>
            <a:pPr marL="900113" indent="-171450">
              <a:buFont typeface="Courier New" panose="02070309020205020404" pitchFamily="49" charset="0"/>
              <a:buChar char="o"/>
            </a:pPr>
            <a:r>
              <a:rPr lang="en-CA" sz="1600" dirty="0"/>
              <a:t>Coincident days</a:t>
            </a:r>
          </a:p>
        </p:txBody>
      </p:sp>
      <p:sp>
        <p:nvSpPr>
          <p:cNvPr id="33" name="QuadreDeText 30">
            <a:extLst>
              <a:ext uri="{FF2B5EF4-FFF2-40B4-BE49-F238E27FC236}">
                <a16:creationId xmlns:a16="http://schemas.microsoft.com/office/drawing/2014/main" id="{A89DBDFA-C286-4630-8AAE-0BC4B395C70E}"/>
              </a:ext>
            </a:extLst>
          </p:cNvPr>
          <p:cNvSpPr txBox="1"/>
          <p:nvPr/>
        </p:nvSpPr>
        <p:spPr>
          <a:xfrm>
            <a:off x="6407212" y="6294283"/>
            <a:ext cx="1572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ca-ES" sz="2000" b="1" dirty="0"/>
              <a:t>384 </a:t>
            </a:r>
            <a:r>
              <a:rPr lang="ca-ES" sz="2000" b="1" dirty="0" err="1"/>
              <a:t>episodes</a:t>
            </a:r>
            <a:endParaRPr lang="ca-ES" sz="2000" b="1" dirty="0"/>
          </a:p>
        </p:txBody>
      </p:sp>
    </p:spTree>
    <p:extLst>
      <p:ext uri="{BB962C8B-B14F-4D97-AF65-F5344CB8AC3E}">
        <p14:creationId xmlns:p14="http://schemas.microsoft.com/office/powerpoint/2010/main" val="4274621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ol 1">
            <a:extLst>
              <a:ext uri="{FF2B5EF4-FFF2-40B4-BE49-F238E27FC236}">
                <a16:creationId xmlns:a16="http://schemas.microsoft.com/office/drawing/2014/main" id="{87832F86-5FED-4835-A8C7-BFB345636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ca-ES" dirty="0"/>
              <a:t>1. Identification of </a:t>
            </a:r>
            <a:r>
              <a:rPr lang="en-CA" altLang="ca-ES" dirty="0" err="1"/>
              <a:t>tramuntana</a:t>
            </a:r>
            <a:r>
              <a:rPr lang="en-CA" altLang="ca-ES" dirty="0"/>
              <a:t> episodes (1998-2019)</a:t>
            </a:r>
          </a:p>
        </p:txBody>
      </p:sp>
      <p:sp>
        <p:nvSpPr>
          <p:cNvPr id="7172" name="Contenidor de número de diapositiva 4">
            <a:extLst>
              <a:ext uri="{FF2B5EF4-FFF2-40B4-BE49-F238E27FC236}">
                <a16:creationId xmlns:a16="http://schemas.microsoft.com/office/drawing/2014/main" id="{39231D9B-6211-4FCA-B0A1-C3E8D65A5625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C00000"/>
              </a:buClr>
              <a:buFont typeface="Wingdings 2" panose="05020102010507070707" pitchFamily="18" charset="2"/>
              <a:buChar char="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1410FFA-C283-428E-8B07-2311B2610812}" type="slidenum">
              <a:rPr lang="ca-ES" altLang="ca-ES">
                <a:solidFill>
                  <a:srgbClr val="898989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ca-ES" altLang="ca-ES">
              <a:solidFill>
                <a:srgbClr val="898989"/>
              </a:solidFill>
            </a:endParaRPr>
          </a:p>
        </p:txBody>
      </p:sp>
      <p:pic>
        <p:nvPicPr>
          <p:cNvPr id="3" name="Contenidor de contingut 2">
            <a:extLst>
              <a:ext uri="{FF2B5EF4-FFF2-40B4-BE49-F238E27FC236}">
                <a16:creationId xmlns:a16="http://schemas.microsoft.com/office/drawing/2014/main" id="{496EC4D9-7834-4257-B943-AF903A0691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6093296"/>
            <a:ext cx="3677994" cy="645578"/>
          </a:xfrm>
        </p:spPr>
      </p:pic>
      <p:sp>
        <p:nvSpPr>
          <p:cNvPr id="35" name="Rectangle 29">
            <a:extLst>
              <a:ext uri="{FF2B5EF4-FFF2-40B4-BE49-F238E27FC236}">
                <a16:creationId xmlns:a16="http://schemas.microsoft.com/office/drawing/2014/main" id="{9D8E188E-7B96-4ACD-B28B-48D4DE84A007}"/>
              </a:ext>
            </a:extLst>
          </p:cNvPr>
          <p:cNvSpPr/>
          <p:nvPr/>
        </p:nvSpPr>
        <p:spPr>
          <a:xfrm>
            <a:off x="179512" y="1268760"/>
            <a:ext cx="792088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9750" indent="-228600" algn="just">
              <a:buFont typeface="+mj-lt"/>
              <a:buAutoNum type="arabicPeriod"/>
            </a:pPr>
            <a:r>
              <a:rPr lang="en-AU" dirty="0"/>
              <a:t>Data sources: </a:t>
            </a:r>
          </a:p>
          <a:p>
            <a:pPr marL="1054100" lvl="1" indent="-285750" algn="just">
              <a:buFont typeface="Arial" panose="020B0604020202020204" pitchFamily="34" charset="0"/>
              <a:buChar char="•"/>
            </a:pPr>
            <a:r>
              <a:rPr lang="en-AU" dirty="0"/>
              <a:t>Sea Level Pressure - NCEP/NCAR database. </a:t>
            </a:r>
          </a:p>
          <a:p>
            <a:pPr marL="1054100" lvl="1" indent="-285750" algn="just">
              <a:buFont typeface="Arial" panose="020B0604020202020204" pitchFamily="34" charset="0"/>
              <a:buChar char="•"/>
            </a:pPr>
            <a:r>
              <a:rPr lang="en-AU" dirty="0"/>
              <a:t>Domain: 40W - 40E / 20N - 70N. </a:t>
            </a:r>
          </a:p>
          <a:p>
            <a:pPr marL="1054100" lvl="1" indent="-285750" algn="just">
              <a:buFont typeface="Arial" panose="020B0604020202020204" pitchFamily="34" charset="0"/>
              <a:buChar char="•"/>
            </a:pPr>
            <a:r>
              <a:rPr lang="en-AU" dirty="0"/>
              <a:t>Grid resolution: 2.5º</a:t>
            </a:r>
          </a:p>
          <a:p>
            <a:pPr marL="1054100" lvl="1" indent="-285750" algn="just">
              <a:buFont typeface="Arial" panose="020B0604020202020204" pitchFamily="34" charset="0"/>
              <a:buChar char="•"/>
            </a:pPr>
            <a:endParaRPr lang="en-AU" dirty="0"/>
          </a:p>
          <a:p>
            <a:pPr marL="539750" indent="-228600" algn="just">
              <a:buFont typeface="+mj-lt"/>
              <a:buAutoNum type="arabicPeriod"/>
            </a:pPr>
            <a:r>
              <a:rPr lang="en-AU" dirty="0"/>
              <a:t>Methodology</a:t>
            </a:r>
          </a:p>
          <a:p>
            <a:pPr marL="720725" indent="-171450" algn="just">
              <a:buFont typeface="Courier New" panose="02070309020205020404" pitchFamily="49" charset="0"/>
              <a:buChar char="o"/>
            </a:pPr>
            <a:r>
              <a:rPr lang="en-AU" dirty="0"/>
              <a:t>Reduction of variables: Principal Component Analysis (PCA) applied to the corrected SLP anomalies</a:t>
            </a:r>
          </a:p>
          <a:p>
            <a:pPr marL="720725" indent="-171450" algn="just">
              <a:buFont typeface="Courier New" panose="02070309020205020404" pitchFamily="49" charset="0"/>
              <a:buChar char="o"/>
            </a:pPr>
            <a:r>
              <a:rPr lang="en-AU" dirty="0"/>
              <a:t>Determination of synoptic patterns: Cluster Analysis (AC) based on PCA scores</a:t>
            </a:r>
          </a:p>
        </p:txBody>
      </p:sp>
      <p:sp>
        <p:nvSpPr>
          <p:cNvPr id="36" name="Fletxa: avall 30">
            <a:extLst>
              <a:ext uri="{FF2B5EF4-FFF2-40B4-BE49-F238E27FC236}">
                <a16:creationId xmlns:a16="http://schemas.microsoft.com/office/drawing/2014/main" id="{13405B01-E0B0-4EAE-9120-66B13EC2C0D7}"/>
              </a:ext>
            </a:extLst>
          </p:cNvPr>
          <p:cNvSpPr/>
          <p:nvPr/>
        </p:nvSpPr>
        <p:spPr>
          <a:xfrm>
            <a:off x="4211960" y="4509120"/>
            <a:ext cx="432048" cy="5730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37" name="QuadreDeText 31">
            <a:extLst>
              <a:ext uri="{FF2B5EF4-FFF2-40B4-BE49-F238E27FC236}">
                <a16:creationId xmlns:a16="http://schemas.microsoft.com/office/drawing/2014/main" id="{5652D3E7-9055-4ADF-A723-A143E1C4DC6A}"/>
              </a:ext>
            </a:extLst>
          </p:cNvPr>
          <p:cNvSpPr txBox="1"/>
          <p:nvPr/>
        </p:nvSpPr>
        <p:spPr>
          <a:xfrm>
            <a:off x="3320472" y="5229200"/>
            <a:ext cx="2215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ca-ES" sz="2000" b="1" dirty="0"/>
              <a:t>4 </a:t>
            </a:r>
            <a:r>
              <a:rPr lang="ca-ES" sz="2000" b="1" dirty="0" err="1"/>
              <a:t>synoptic</a:t>
            </a:r>
            <a:r>
              <a:rPr lang="ca-ES" sz="2000" b="1" dirty="0"/>
              <a:t> </a:t>
            </a:r>
            <a:r>
              <a:rPr lang="ca-ES" sz="2000" b="1" dirty="0" err="1"/>
              <a:t>patterns</a:t>
            </a:r>
            <a:endParaRPr lang="ca-ES" sz="2000" b="1" dirty="0"/>
          </a:p>
        </p:txBody>
      </p:sp>
    </p:spTree>
    <p:extLst>
      <p:ext uri="{BB962C8B-B14F-4D97-AF65-F5344CB8AC3E}">
        <p14:creationId xmlns:p14="http://schemas.microsoft.com/office/powerpoint/2010/main" val="1233271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ol 1">
            <a:extLst>
              <a:ext uri="{FF2B5EF4-FFF2-40B4-BE49-F238E27FC236}">
                <a16:creationId xmlns:a16="http://schemas.microsoft.com/office/drawing/2014/main" id="{87832F86-5FED-4835-A8C7-BFB345636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ca-ES" dirty="0"/>
              <a:t>1. Identification of </a:t>
            </a:r>
            <a:r>
              <a:rPr lang="en-CA" altLang="ca-ES" dirty="0" err="1"/>
              <a:t>tramuntana</a:t>
            </a:r>
            <a:r>
              <a:rPr lang="en-CA" altLang="ca-ES" dirty="0"/>
              <a:t> episodes (1998-2019)</a:t>
            </a:r>
          </a:p>
        </p:txBody>
      </p:sp>
      <p:sp>
        <p:nvSpPr>
          <p:cNvPr id="7172" name="Contenidor de número de diapositiva 4">
            <a:extLst>
              <a:ext uri="{FF2B5EF4-FFF2-40B4-BE49-F238E27FC236}">
                <a16:creationId xmlns:a16="http://schemas.microsoft.com/office/drawing/2014/main" id="{39231D9B-6211-4FCA-B0A1-C3E8D65A5625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C00000"/>
              </a:buClr>
              <a:buFont typeface="Wingdings 2" panose="05020102010507070707" pitchFamily="18" charset="2"/>
              <a:buChar char="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1410FFA-C283-428E-8B07-2311B2610812}" type="slidenum">
              <a:rPr lang="ca-ES" altLang="ca-ES">
                <a:solidFill>
                  <a:srgbClr val="898989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ca-ES" altLang="ca-ES">
              <a:solidFill>
                <a:srgbClr val="898989"/>
              </a:solidFill>
            </a:endParaRPr>
          </a:p>
        </p:txBody>
      </p:sp>
      <p:pic>
        <p:nvPicPr>
          <p:cNvPr id="3" name="Contenidor de contingut 2">
            <a:extLst>
              <a:ext uri="{FF2B5EF4-FFF2-40B4-BE49-F238E27FC236}">
                <a16:creationId xmlns:a16="http://schemas.microsoft.com/office/drawing/2014/main" id="{496EC4D9-7834-4257-B943-AF903A0691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6093296"/>
            <a:ext cx="3677994" cy="645578"/>
          </a:xfrm>
        </p:spPr>
      </p:pic>
      <p:pic>
        <p:nvPicPr>
          <p:cNvPr id="34" name="Imagen 3">
            <a:extLst>
              <a:ext uri="{FF2B5EF4-FFF2-40B4-BE49-F238E27FC236}">
                <a16:creationId xmlns:a16="http://schemas.microsoft.com/office/drawing/2014/main" id="{A2419FDE-25E0-471F-A0A8-225026A8D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43" y="1027400"/>
            <a:ext cx="8591629" cy="5785976"/>
          </a:xfrm>
          <a:prstGeom prst="rect">
            <a:avLst/>
          </a:prstGeom>
        </p:spPr>
      </p:pic>
      <p:grpSp>
        <p:nvGrpSpPr>
          <p:cNvPr id="35" name="Agrupa 3">
            <a:extLst>
              <a:ext uri="{FF2B5EF4-FFF2-40B4-BE49-F238E27FC236}">
                <a16:creationId xmlns:a16="http://schemas.microsoft.com/office/drawing/2014/main" id="{19971009-AB66-4EF7-B0B0-7D7A16E485C2}"/>
              </a:ext>
            </a:extLst>
          </p:cNvPr>
          <p:cNvGrpSpPr/>
          <p:nvPr/>
        </p:nvGrpSpPr>
        <p:grpSpPr>
          <a:xfrm>
            <a:off x="1713384" y="1290464"/>
            <a:ext cx="6077272" cy="914400"/>
            <a:chOff x="1713384" y="1196752"/>
            <a:chExt cx="6077272" cy="914400"/>
          </a:xfrm>
        </p:grpSpPr>
        <p:sp>
          <p:nvSpPr>
            <p:cNvPr id="36" name="Signe de multiplicació 1">
              <a:extLst>
                <a:ext uri="{FF2B5EF4-FFF2-40B4-BE49-F238E27FC236}">
                  <a16:creationId xmlns:a16="http://schemas.microsoft.com/office/drawing/2014/main" id="{0A4804A8-F651-42B6-A178-C9F01FD69297}"/>
                </a:ext>
              </a:extLst>
            </p:cNvPr>
            <p:cNvSpPr/>
            <p:nvPr/>
          </p:nvSpPr>
          <p:spPr>
            <a:xfrm>
              <a:off x="6876256" y="1196752"/>
              <a:ext cx="914400" cy="914400"/>
            </a:xfrm>
            <a:prstGeom prst="mathMultiply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sp>
          <p:nvSpPr>
            <p:cNvPr id="37" name="Signe de multiplicació 8">
              <a:extLst>
                <a:ext uri="{FF2B5EF4-FFF2-40B4-BE49-F238E27FC236}">
                  <a16:creationId xmlns:a16="http://schemas.microsoft.com/office/drawing/2014/main" id="{563EAABB-BEEC-4F36-A580-DC31A30A00B8}"/>
                </a:ext>
              </a:extLst>
            </p:cNvPr>
            <p:cNvSpPr/>
            <p:nvPr/>
          </p:nvSpPr>
          <p:spPr>
            <a:xfrm>
              <a:off x="1713384" y="1196752"/>
              <a:ext cx="914400" cy="914400"/>
            </a:xfrm>
            <a:prstGeom prst="mathMultiply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  <p:sp>
          <p:nvSpPr>
            <p:cNvPr id="38" name="Signe de multiplicació 9">
              <a:extLst>
                <a:ext uri="{FF2B5EF4-FFF2-40B4-BE49-F238E27FC236}">
                  <a16:creationId xmlns:a16="http://schemas.microsoft.com/office/drawing/2014/main" id="{671F236F-4CD9-477D-9D78-3B5331D56E80}"/>
                </a:ext>
              </a:extLst>
            </p:cNvPr>
            <p:cNvSpPr/>
            <p:nvPr/>
          </p:nvSpPr>
          <p:spPr>
            <a:xfrm>
              <a:off x="4716016" y="1196752"/>
              <a:ext cx="914400" cy="914400"/>
            </a:xfrm>
            <a:prstGeom prst="mathMultiply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a-ES"/>
            </a:p>
          </p:txBody>
        </p:sp>
      </p:grpSp>
    </p:spTree>
    <p:extLst>
      <p:ext uri="{BB962C8B-B14F-4D97-AF65-F5344CB8AC3E}">
        <p14:creationId xmlns:p14="http://schemas.microsoft.com/office/powerpoint/2010/main" val="70140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ol 1">
            <a:extLst>
              <a:ext uri="{FF2B5EF4-FFF2-40B4-BE49-F238E27FC236}">
                <a16:creationId xmlns:a16="http://schemas.microsoft.com/office/drawing/2014/main" id="{87832F86-5FED-4835-A8C7-BFB345636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ca-ES" dirty="0"/>
              <a:t>2. Projection of </a:t>
            </a:r>
            <a:r>
              <a:rPr lang="en-CA" altLang="ca-ES" dirty="0" err="1"/>
              <a:t>tramuntana</a:t>
            </a:r>
            <a:r>
              <a:rPr lang="en-CA" altLang="ca-ES" dirty="0"/>
              <a:t> patterns (2006-2100)</a:t>
            </a:r>
          </a:p>
        </p:txBody>
      </p:sp>
      <p:sp>
        <p:nvSpPr>
          <p:cNvPr id="7172" name="Contenidor de número de diapositiva 4">
            <a:extLst>
              <a:ext uri="{FF2B5EF4-FFF2-40B4-BE49-F238E27FC236}">
                <a16:creationId xmlns:a16="http://schemas.microsoft.com/office/drawing/2014/main" id="{39231D9B-6211-4FCA-B0A1-C3E8D65A5625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C00000"/>
              </a:buClr>
              <a:buFont typeface="Wingdings 2" panose="05020102010507070707" pitchFamily="18" charset="2"/>
              <a:buChar char="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1410FFA-C283-428E-8B07-2311B2610812}" type="slidenum">
              <a:rPr lang="ca-ES" altLang="ca-ES">
                <a:solidFill>
                  <a:srgbClr val="898989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ca-ES" altLang="ca-ES">
              <a:solidFill>
                <a:srgbClr val="898989"/>
              </a:solidFill>
            </a:endParaRPr>
          </a:p>
        </p:txBody>
      </p:sp>
      <p:pic>
        <p:nvPicPr>
          <p:cNvPr id="3" name="Contenidor de contingut 2">
            <a:extLst>
              <a:ext uri="{FF2B5EF4-FFF2-40B4-BE49-F238E27FC236}">
                <a16:creationId xmlns:a16="http://schemas.microsoft.com/office/drawing/2014/main" id="{496EC4D9-7834-4257-B943-AF903A0691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6093296"/>
            <a:ext cx="3677994" cy="645578"/>
          </a:xfrm>
        </p:spPr>
      </p:pic>
      <p:sp>
        <p:nvSpPr>
          <p:cNvPr id="34" name="Rectangle 4">
            <a:extLst>
              <a:ext uri="{FF2B5EF4-FFF2-40B4-BE49-F238E27FC236}">
                <a16:creationId xmlns:a16="http://schemas.microsoft.com/office/drawing/2014/main" id="{B1651040-3CAF-42C3-A2DE-F49108106CEA}"/>
              </a:ext>
            </a:extLst>
          </p:cNvPr>
          <p:cNvSpPr/>
          <p:nvPr/>
        </p:nvSpPr>
        <p:spPr>
          <a:xfrm>
            <a:off x="539552" y="1196752"/>
            <a:ext cx="8442794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AU" b="1" dirty="0"/>
              <a:t>Data sources: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AU" dirty="0">
                <a:cs typeface="Arial" panose="020B0604020202020204" pitchFamily="34" charset="0"/>
              </a:rPr>
              <a:t>Period:2006-2100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AU" dirty="0">
                <a:cs typeface="Arial" panose="020B0604020202020204" pitchFamily="34" charset="0"/>
              </a:rPr>
              <a:t>Climate Model Intercomparison Project (CMIP5): 9 models (Wv </a:t>
            </a:r>
            <a:r>
              <a:rPr lang="en-AU" dirty="0"/>
              <a:t>and</a:t>
            </a:r>
            <a:r>
              <a:rPr lang="en-AU" dirty="0">
                <a:cs typeface="Arial" panose="020B0604020202020204" pitchFamily="34" charset="0"/>
              </a:rPr>
              <a:t> SLP)</a:t>
            </a:r>
          </a:p>
          <a:p>
            <a:pPr algn="just"/>
            <a:r>
              <a:rPr lang="en-AU" dirty="0">
                <a:cs typeface="Arial" panose="020B0604020202020204" pitchFamily="34" charset="0"/>
              </a:rPr>
              <a:t>	</a:t>
            </a:r>
          </a:p>
          <a:p>
            <a:pPr algn="just"/>
            <a:endParaRPr lang="en-AU" dirty="0">
              <a:cs typeface="Arial" panose="020B0604020202020204" pitchFamily="34" charset="0"/>
            </a:endParaRPr>
          </a:p>
          <a:p>
            <a:pPr marL="342900" indent="-342900" algn="just">
              <a:buAutoNum type="arabicPeriod" startAt="2"/>
            </a:pPr>
            <a:r>
              <a:rPr lang="en-AU" b="1" dirty="0"/>
              <a:t>Methodology</a:t>
            </a:r>
            <a:r>
              <a:rPr lang="en-AU" b="1" dirty="0">
                <a:cs typeface="Arial" panose="020B0604020202020204" pitchFamily="34" charset="0"/>
              </a:rPr>
              <a:t>:</a:t>
            </a:r>
          </a:p>
          <a:p>
            <a:pPr marL="342900" indent="-342900" algn="just">
              <a:buAutoNum type="arabicPeriod" startAt="2"/>
            </a:pPr>
            <a:endParaRPr lang="en-AU" dirty="0">
              <a:cs typeface="Arial" panose="020B0604020202020204" pitchFamily="34" charset="0"/>
            </a:endParaRPr>
          </a:p>
          <a:p>
            <a:pPr marL="228600" indent="-228600" algn="just">
              <a:buFont typeface="+mj-lt"/>
              <a:buAutoNum type="alphaLcParenR"/>
            </a:pPr>
            <a:r>
              <a:rPr lang="en-AU" dirty="0">
                <a:cs typeface="Arial" panose="020B0604020202020204" pitchFamily="34" charset="0"/>
              </a:rPr>
              <a:t>Episodes identification: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AU" dirty="0">
                <a:cs typeface="Arial" panose="020B0604020202020204" pitchFamily="34" charset="0"/>
              </a:rPr>
              <a:t>Days when the 90</a:t>
            </a:r>
            <a:r>
              <a:rPr lang="en-AU" baseline="30000" dirty="0">
                <a:cs typeface="Arial" panose="020B0604020202020204" pitchFamily="34" charset="0"/>
              </a:rPr>
              <a:t>th</a:t>
            </a:r>
            <a:r>
              <a:rPr lang="en-AU" dirty="0">
                <a:cs typeface="Arial" panose="020B0604020202020204" pitchFamily="34" charset="0"/>
              </a:rPr>
              <a:t> percentile of WV series is exceeded in each of the models</a:t>
            </a:r>
          </a:p>
          <a:p>
            <a:pPr algn="just"/>
            <a:r>
              <a:rPr lang="en-AU" dirty="0">
                <a:cs typeface="Arial" panose="020B0604020202020204" pitchFamily="34" charset="0"/>
              </a:rPr>
              <a:t>	</a:t>
            </a:r>
          </a:p>
          <a:p>
            <a:pPr marL="228600" indent="-228600" algn="just">
              <a:buFont typeface="+mj-lt"/>
              <a:buAutoNum type="alphaLcParenR" startAt="2"/>
            </a:pPr>
            <a:r>
              <a:rPr lang="en-AU" dirty="0">
                <a:cs typeface="Arial" panose="020B0604020202020204" pitchFamily="34" charset="0"/>
              </a:rPr>
              <a:t>Future north wind synoptic patterns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AU" dirty="0">
                <a:cs typeface="Arial" panose="020B0604020202020204" pitchFamily="34" charset="0"/>
              </a:rPr>
              <a:t>Principal Component Analysis (PCA) to reduce variable + Cluster Analysis (CA) to determine synoptic patterns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AU" dirty="0">
              <a:cs typeface="Arial" panose="020B0604020202020204" pitchFamily="34" charset="0"/>
            </a:endParaRPr>
          </a:p>
          <a:p>
            <a:pPr marL="228600" indent="-228600" algn="just">
              <a:buFont typeface="+mj-lt"/>
              <a:buAutoNum type="alphaLcParenR" startAt="3"/>
            </a:pPr>
            <a:r>
              <a:rPr lang="en-AU" dirty="0">
                <a:cs typeface="Arial" panose="020B0604020202020204" pitchFamily="34" charset="0"/>
              </a:rPr>
              <a:t> Projections and simulations: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AU" dirty="0">
                <a:cs typeface="Arial" panose="020B0604020202020204" pitchFamily="34" charset="0"/>
              </a:rPr>
              <a:t>Regression model (dependent variable: historical series / independent variables: simulation) + identification of the 2 best simulations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44892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ol 1">
            <a:extLst>
              <a:ext uri="{FF2B5EF4-FFF2-40B4-BE49-F238E27FC236}">
                <a16:creationId xmlns:a16="http://schemas.microsoft.com/office/drawing/2014/main" id="{87832F86-5FED-4835-A8C7-BFB345636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ca-ES" dirty="0"/>
              <a:t>2. Projection of </a:t>
            </a:r>
            <a:r>
              <a:rPr lang="en-CA" altLang="ca-ES" dirty="0" err="1"/>
              <a:t>tramuntana</a:t>
            </a:r>
            <a:r>
              <a:rPr lang="en-CA" altLang="ca-ES" dirty="0"/>
              <a:t> patterns (2006-2100)</a:t>
            </a:r>
          </a:p>
        </p:txBody>
      </p:sp>
      <p:sp>
        <p:nvSpPr>
          <p:cNvPr id="7172" name="Contenidor de número de diapositiva 4">
            <a:extLst>
              <a:ext uri="{FF2B5EF4-FFF2-40B4-BE49-F238E27FC236}">
                <a16:creationId xmlns:a16="http://schemas.microsoft.com/office/drawing/2014/main" id="{39231D9B-6211-4FCA-B0A1-C3E8D65A5625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C00000"/>
              </a:buClr>
              <a:buFont typeface="Wingdings 2" panose="05020102010507070707" pitchFamily="18" charset="2"/>
              <a:buChar char="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1410FFA-C283-428E-8B07-2311B2610812}" type="slidenum">
              <a:rPr lang="ca-ES" altLang="ca-ES">
                <a:solidFill>
                  <a:srgbClr val="898989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ca-ES" altLang="ca-ES">
              <a:solidFill>
                <a:srgbClr val="898989"/>
              </a:solidFill>
            </a:endParaRPr>
          </a:p>
        </p:txBody>
      </p:sp>
      <p:pic>
        <p:nvPicPr>
          <p:cNvPr id="3" name="Contenidor de contingut 2">
            <a:extLst>
              <a:ext uri="{FF2B5EF4-FFF2-40B4-BE49-F238E27FC236}">
                <a16:creationId xmlns:a16="http://schemas.microsoft.com/office/drawing/2014/main" id="{496EC4D9-7834-4257-B943-AF903A0691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6093296"/>
            <a:ext cx="3677994" cy="645578"/>
          </a:xfrm>
        </p:spPr>
      </p:pic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B4D8A08-C050-44ED-9141-F669FD2C16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68108"/>
              </p:ext>
            </p:extLst>
          </p:nvPr>
        </p:nvGraphicFramePr>
        <p:xfrm>
          <a:off x="117727" y="394051"/>
          <a:ext cx="8918769" cy="62645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43807">
                  <a:extLst>
                    <a:ext uri="{9D8B030D-6E8A-4147-A177-3AD203B41FA5}">
                      <a16:colId xmlns:a16="http://schemas.microsoft.com/office/drawing/2014/main" val="3545496164"/>
                    </a:ext>
                  </a:extLst>
                </a:gridCol>
                <a:gridCol w="2628848">
                  <a:extLst>
                    <a:ext uri="{9D8B030D-6E8A-4147-A177-3AD203B41FA5}">
                      <a16:colId xmlns:a16="http://schemas.microsoft.com/office/drawing/2014/main" val="4117237418"/>
                    </a:ext>
                  </a:extLst>
                </a:gridCol>
                <a:gridCol w="5246114">
                  <a:extLst>
                    <a:ext uri="{9D8B030D-6E8A-4147-A177-3AD203B41FA5}">
                      <a16:colId xmlns:a16="http://schemas.microsoft.com/office/drawing/2014/main" val="354775506"/>
                    </a:ext>
                  </a:extLst>
                </a:gridCol>
              </a:tblGrid>
              <a:tr h="2176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 name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993" marR="48993" marT="34295" marB="342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Modelling centre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993" marR="48993" marT="34295" marB="342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 details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993" marR="48993" marT="34295" marB="34295"/>
                </a:tc>
                <a:extLst>
                  <a:ext uri="{0D108BD9-81ED-4DB2-BD59-A6C34878D82A}">
                    <a16:rowId xmlns:a16="http://schemas.microsoft.com/office/drawing/2014/main" val="679360362"/>
                  </a:ext>
                </a:extLst>
              </a:tr>
              <a:tr h="11696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ACCESS1.3</a:t>
                      </a:r>
                      <a:endParaRPr lang="en-GB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993" marR="48993" marT="34295" marB="342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CSIRO (Commonwealth Scientific and Industrial Research Organisation, Australia), and BOM (Bureau of Meteorology, Australia)</a:t>
                      </a:r>
                      <a:endParaRPr lang="en-GB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993" marR="48993" marT="34295" marB="342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ACCESS1-3 2011. Atmosphere: AGCM v1.0 (N96 grid-point, 1.875 degrees EW x approx. 1.25 degree NS, 38 levels); ocean: NOAA/GFDL MOM4p1 (nominal 1.0 degree EW x 1.0 degrees NS, tripolar north of 65N, equatorial refinement to 1/3 degree from 10S to 10 N, cosine dependent NS south of 25S, 50 levels); sea ice: CICE4.1 (nominal 1.0 degree EW x 1.0 degrees NS, tripolar north of 65N, equatorial refinement to 1/3 degree from 10S to 10 N, cosine dependent NS south of 25S); land: CABLE1.0 (1.875 degree EW x 1.25 degree NS, 6 levels;</a:t>
                      </a:r>
                      <a:endParaRPr lang="en-GB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993" marR="48993" marT="34295" marB="34295"/>
                </a:tc>
                <a:extLst>
                  <a:ext uri="{0D108BD9-81ED-4DB2-BD59-A6C34878D82A}">
                    <a16:rowId xmlns:a16="http://schemas.microsoft.com/office/drawing/2014/main" val="3680587935"/>
                  </a:ext>
                </a:extLst>
              </a:tr>
              <a:tr h="21764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BNU-ESM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993" marR="48993" marT="34295" marB="342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GCESS,BNU,Beijing,China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993" marR="48993" marT="34295" marB="342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BNU-ESM;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993" marR="48993" marT="34295" marB="34295"/>
                </a:tc>
                <a:extLst>
                  <a:ext uri="{0D108BD9-81ED-4DB2-BD59-A6C34878D82A}">
                    <a16:rowId xmlns:a16="http://schemas.microsoft.com/office/drawing/2014/main" val="1362847733"/>
                  </a:ext>
                </a:extLst>
              </a:tr>
              <a:tr h="10250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CNRM-CM5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993" marR="48993" marT="34295" marB="342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CNRM (Centre National de Recherches Meteorologiques, Meteo-France, Toulouse,France) and CERFACS (Centre Europeen de Recherches et de Formation Avancee en Calcul Scientifique, Toulouse, France)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993" marR="48993" marT="34295" marB="342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CNRM-CM5 2010 Atmosphere: ARPEGE-</a:t>
                      </a:r>
                      <a:r>
                        <a:rPr lang="en-GB" sz="1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Climat</a:t>
                      </a:r>
                      <a:r>
                        <a:rPr lang="en-GB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(V5.2.1, TL127L31); Ocean: NEMO (nemo3.3.v10.6.6P, ORCA1degL42); Sea Ice: GELATO (V5.30); River Routing: TRIP (v1); Land: SURFEX (v5.1.c); Coupler : OASIS 3;</a:t>
                      </a:r>
                      <a:endParaRPr lang="en-GB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993" marR="48993" marT="34295" marB="34295"/>
                </a:tc>
                <a:extLst>
                  <a:ext uri="{0D108BD9-81ED-4DB2-BD59-A6C34878D82A}">
                    <a16:rowId xmlns:a16="http://schemas.microsoft.com/office/drawing/2014/main" val="1031330012"/>
                  </a:ext>
                </a:extLst>
              </a:tr>
              <a:tr h="53292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GFDL-CM3</a:t>
                      </a:r>
                      <a:endParaRPr lang="en-GB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993" marR="48993" marT="34295" marB="342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NOAA GFDL(201 Forrestal Rd, Princeton, NJ, 08540)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993" marR="48993" marT="34295" marB="342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GFDL-CM3 2010 atmosphere: AM3 (AM3p9,C48L48); sea ice: SIS (SISp2,Tripolar360x200); land: LM3 (LM3p7_cCM3,C48); ocean: MOM4 (MOM4p1_x1_Z50_cCM3,Tripolar360x200L50);</a:t>
                      </a:r>
                      <a:endParaRPr lang="en-GB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993" marR="48993" marT="34295" marB="34295"/>
                </a:tc>
                <a:extLst>
                  <a:ext uri="{0D108BD9-81ED-4DB2-BD59-A6C34878D82A}">
                    <a16:rowId xmlns:a16="http://schemas.microsoft.com/office/drawing/2014/main" val="394234843"/>
                  </a:ext>
                </a:extLst>
              </a:tr>
              <a:tr h="5766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GFDL-ESM2G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993" marR="48993" marT="34295" marB="342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NOAA GFDL(201 Forrestal Rd, Princeton, NJ, 08540)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993" marR="48993" marT="34295" marB="342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GFDL-ESM2G 2010 ocean: TOPAZ (TOPAZ1p2,Tripolar360x210L63); atmosphere: AM2 (AM2p14,M45L24); sea ice: SIS (SISp2,Tripolar360x210L63); land: LM3 (LM3p7_cESM,M45);</a:t>
                      </a:r>
                      <a:endParaRPr lang="en-GB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993" marR="48993" marT="34295" marB="34295"/>
                </a:tc>
                <a:extLst>
                  <a:ext uri="{0D108BD9-81ED-4DB2-BD59-A6C34878D82A}">
                    <a16:rowId xmlns:a16="http://schemas.microsoft.com/office/drawing/2014/main" val="3000199866"/>
                  </a:ext>
                </a:extLst>
              </a:tr>
              <a:tr h="8663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GFDL-ESM2M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993" marR="48993" marT="34295" marB="342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NOAA GFDL(201 Forrestal Rd, Princeton, NJ, 08540)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993" marR="48993" marT="34295" marB="342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GFDL-ESM2M 2010 ocean: MOM4 (MOM4p1_x1_Z50_cCM2M,Tripolar360x200L50); atmosphere: AM2 (AM2p14,M45L24); sea ice: SIS (SISp2,Tripolar360x200L50); land: LM3 (LM3p7_cESM,M45) Computing resources were provided by the Climate Simulation Laboratory at the NCAR Computational and Information Systems Laboratory (CISL),\n,;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993" marR="48993" marT="34295" marB="34295"/>
                </a:tc>
                <a:extLst>
                  <a:ext uri="{0D108BD9-81ED-4DB2-BD59-A6C34878D82A}">
                    <a16:rowId xmlns:a16="http://schemas.microsoft.com/office/drawing/2014/main" val="4263247219"/>
                  </a:ext>
                </a:extLst>
              </a:tr>
              <a:tr h="54060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HadGEM2-CC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993" marR="48993" marT="34295" marB="342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 Office Hadley Centre, Fitzroy Road, Exeter, Devon, EX1 3PB, UK, (</a:t>
                      </a:r>
                      <a:r>
                        <a:rPr lang="en-GB" sz="1000" u="sng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hlinkClick r:id="rId3"/>
                        </a:rPr>
                        <a:t>http://www.metoffice.gov.uk</a:t>
                      </a:r>
                      <a:r>
                        <a:rPr lang="en-GB" sz="1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993" marR="48993" marT="34295" marB="342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HadGEM2-CC (2011) atmosphere: HadGAM2(N96L60); ocean: HadGOM2 (lat: 1.0-0.3 lon: 1.0 L40); land-surface/vegetation: MOSES2 and TRIFFID; ocean biogeochemistry: diat-HadOCC;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993" marR="48993" marT="34295" marB="34295"/>
                </a:tc>
                <a:extLst>
                  <a:ext uri="{0D108BD9-81ED-4DB2-BD59-A6C34878D82A}">
                    <a16:rowId xmlns:a16="http://schemas.microsoft.com/office/drawing/2014/main" val="4175735191"/>
                  </a:ext>
                </a:extLst>
              </a:tr>
              <a:tr h="5766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IPSL-CM5A-MR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993" marR="48993" marT="34295" marB="342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IPSL (Institut Pierre Simon Laplace, Paris, France)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993" marR="48993" marT="34295" marB="342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IPSL-CM5A-MR (2010) : atmos : LMDZ4 (LMDZ4_v5, 144x143x39); ocean : ORCA2 (NEMOV2_3, 2x2L31); seaIce : LIM2 (NEMOV2_3); ocnBgchem : PISCES (NEMOV2_3); land : ORCHIDEE (orchidee_1_9_4_AR5);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993" marR="48993" marT="34295" marB="34295"/>
                </a:tc>
                <a:extLst>
                  <a:ext uri="{0D108BD9-81ED-4DB2-BD59-A6C34878D82A}">
                    <a16:rowId xmlns:a16="http://schemas.microsoft.com/office/drawing/2014/main" val="278474011"/>
                  </a:ext>
                </a:extLst>
              </a:tr>
              <a:tr h="48010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MPI-ESM-MR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993" marR="48993" marT="34295" marB="342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 Planck Institute for Meteorology</a:t>
                      </a:r>
                      <a:endParaRPr lang="en-GB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993" marR="48993" marT="34295" marB="342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MPI-ESM-MR 2011; URL: </a:t>
                      </a:r>
                      <a:r>
                        <a:rPr lang="en-GB" sz="1000" u="sng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  <a:hlinkClick r:id="rId4"/>
                        </a:rPr>
                        <a:t>https://www.mpimet.mpg.de/en/science/models/mpi-esm/</a:t>
                      </a:r>
                      <a:r>
                        <a:rPr lang="en-GB" sz="1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; atmosphere: ECHAM6 (REV: 4968), T63L47; land: JSBACH (REV: 4968);;</a:t>
                      </a:r>
                      <a:endParaRPr lang="en-GB" sz="1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8993" marR="48993" marT="34295" marB="34295"/>
                </a:tc>
                <a:extLst>
                  <a:ext uri="{0D108BD9-81ED-4DB2-BD59-A6C34878D82A}">
                    <a16:rowId xmlns:a16="http://schemas.microsoft.com/office/drawing/2014/main" val="11798948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5947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ol 1">
            <a:extLst>
              <a:ext uri="{FF2B5EF4-FFF2-40B4-BE49-F238E27FC236}">
                <a16:creationId xmlns:a16="http://schemas.microsoft.com/office/drawing/2014/main" id="{87832F86-5FED-4835-A8C7-BFB345636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ca-ES" dirty="0"/>
              <a:t>2. Projection of </a:t>
            </a:r>
            <a:r>
              <a:rPr lang="en-CA" altLang="ca-ES" dirty="0" err="1"/>
              <a:t>tramuntana</a:t>
            </a:r>
            <a:r>
              <a:rPr lang="en-CA" altLang="ca-ES" dirty="0"/>
              <a:t> patterns (2006-2100)</a:t>
            </a:r>
          </a:p>
        </p:txBody>
      </p:sp>
      <p:sp>
        <p:nvSpPr>
          <p:cNvPr id="7172" name="Contenidor de número de diapositiva 4">
            <a:extLst>
              <a:ext uri="{FF2B5EF4-FFF2-40B4-BE49-F238E27FC236}">
                <a16:creationId xmlns:a16="http://schemas.microsoft.com/office/drawing/2014/main" id="{39231D9B-6211-4FCA-B0A1-C3E8D65A5625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C00000"/>
              </a:buClr>
              <a:buFont typeface="Wingdings 2" panose="05020102010507070707" pitchFamily="18" charset="2"/>
              <a:buChar char="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1410FFA-C283-428E-8B07-2311B2610812}" type="slidenum">
              <a:rPr lang="ca-ES" altLang="ca-ES">
                <a:solidFill>
                  <a:srgbClr val="898989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ca-ES" altLang="ca-ES">
              <a:solidFill>
                <a:srgbClr val="898989"/>
              </a:solidFill>
            </a:endParaRPr>
          </a:p>
        </p:txBody>
      </p:sp>
      <p:pic>
        <p:nvPicPr>
          <p:cNvPr id="3" name="Contenidor de contingut 2">
            <a:extLst>
              <a:ext uri="{FF2B5EF4-FFF2-40B4-BE49-F238E27FC236}">
                <a16:creationId xmlns:a16="http://schemas.microsoft.com/office/drawing/2014/main" id="{496EC4D9-7834-4257-B943-AF903A0691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6093296"/>
            <a:ext cx="3677994" cy="645578"/>
          </a:xfrm>
        </p:spPr>
      </p:pic>
      <p:pic>
        <p:nvPicPr>
          <p:cNvPr id="6" name="Imatge 9">
            <a:extLst>
              <a:ext uri="{FF2B5EF4-FFF2-40B4-BE49-F238E27FC236}">
                <a16:creationId xmlns:a16="http://schemas.microsoft.com/office/drawing/2014/main" id="{A6759736-EDCB-48B4-BD43-A902DC2A5F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413" t="42660" r="35825" b="8898"/>
          <a:stretch/>
        </p:blipFill>
        <p:spPr>
          <a:xfrm>
            <a:off x="357188" y="1756361"/>
            <a:ext cx="7965138" cy="392312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EA6183D-3299-43EC-88C3-FDF9A0A17211}"/>
              </a:ext>
            </a:extLst>
          </p:cNvPr>
          <p:cNvSpPr txBox="1"/>
          <p:nvPr/>
        </p:nvSpPr>
        <p:spPr>
          <a:xfrm>
            <a:off x="6547603" y="2564904"/>
            <a:ext cx="2122697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ca-ES" dirty="0" err="1"/>
              <a:t>Passive</a:t>
            </a:r>
            <a:r>
              <a:rPr lang="ca-ES" dirty="0"/>
              <a:t> </a:t>
            </a:r>
            <a:r>
              <a:rPr lang="ca-ES" dirty="0" err="1"/>
              <a:t>scenario</a:t>
            </a:r>
            <a:br>
              <a:rPr lang="ca-ES" dirty="0"/>
            </a:br>
            <a:r>
              <a:rPr lang="ca-ES" dirty="0"/>
              <a:t>(</a:t>
            </a:r>
            <a:r>
              <a:rPr lang="ca-ES" dirty="0" err="1"/>
              <a:t>without</a:t>
            </a:r>
            <a:r>
              <a:rPr lang="ca-ES" dirty="0"/>
              <a:t> </a:t>
            </a:r>
            <a:r>
              <a:rPr lang="ca-ES" dirty="0" err="1"/>
              <a:t>mitigation</a:t>
            </a:r>
            <a:r>
              <a:rPr lang="ca-ES" dirty="0"/>
              <a:t>) </a:t>
            </a:r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E8B6661-8AB9-4C93-9A45-6EE408C96872}"/>
              </a:ext>
            </a:extLst>
          </p:cNvPr>
          <p:cNvSpPr txBox="1"/>
          <p:nvPr/>
        </p:nvSpPr>
        <p:spPr>
          <a:xfrm>
            <a:off x="6479775" y="4797152"/>
            <a:ext cx="2341795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ca-ES" dirty="0" err="1"/>
              <a:t>Compromised</a:t>
            </a:r>
            <a:r>
              <a:rPr lang="ca-ES" dirty="0"/>
              <a:t> </a:t>
            </a:r>
            <a:r>
              <a:rPr lang="ca-ES" dirty="0" err="1"/>
              <a:t>scenario</a:t>
            </a:r>
            <a:br>
              <a:rPr lang="ca-ES" dirty="0"/>
            </a:br>
            <a:r>
              <a:rPr lang="ca-ES" dirty="0"/>
              <a:t>(Paris </a:t>
            </a:r>
            <a:r>
              <a:rPr lang="ca-ES" dirty="0" err="1"/>
              <a:t>agreement</a:t>
            </a:r>
            <a:r>
              <a:rPr lang="ca-ES" dirty="0"/>
              <a:t>)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52482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ol 1">
            <a:extLst>
              <a:ext uri="{FF2B5EF4-FFF2-40B4-BE49-F238E27FC236}">
                <a16:creationId xmlns:a16="http://schemas.microsoft.com/office/drawing/2014/main" id="{87832F86-5FED-4835-A8C7-BFB345636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ca-ES" dirty="0"/>
              <a:t>2. Projection of </a:t>
            </a:r>
            <a:r>
              <a:rPr lang="en-CA" altLang="ca-ES" dirty="0" err="1"/>
              <a:t>tramuntana</a:t>
            </a:r>
            <a:r>
              <a:rPr lang="en-CA" altLang="ca-ES" dirty="0"/>
              <a:t> patterns (2006-2100)</a:t>
            </a:r>
          </a:p>
        </p:txBody>
      </p:sp>
      <p:sp>
        <p:nvSpPr>
          <p:cNvPr id="7172" name="Contenidor de número de diapositiva 4">
            <a:extLst>
              <a:ext uri="{FF2B5EF4-FFF2-40B4-BE49-F238E27FC236}">
                <a16:creationId xmlns:a16="http://schemas.microsoft.com/office/drawing/2014/main" id="{39231D9B-6211-4FCA-B0A1-C3E8D65A5625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C00000"/>
              </a:buClr>
              <a:buFont typeface="Wingdings 2" panose="05020102010507070707" pitchFamily="18" charset="2"/>
              <a:buChar char="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1410FFA-C283-428E-8B07-2311B2610812}" type="slidenum">
              <a:rPr lang="ca-ES" altLang="ca-ES">
                <a:solidFill>
                  <a:srgbClr val="898989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ca-ES" altLang="ca-ES">
              <a:solidFill>
                <a:srgbClr val="898989"/>
              </a:solidFill>
            </a:endParaRPr>
          </a:p>
        </p:txBody>
      </p:sp>
      <p:pic>
        <p:nvPicPr>
          <p:cNvPr id="3" name="Contenidor de contingut 2">
            <a:extLst>
              <a:ext uri="{FF2B5EF4-FFF2-40B4-BE49-F238E27FC236}">
                <a16:creationId xmlns:a16="http://schemas.microsoft.com/office/drawing/2014/main" id="{496EC4D9-7834-4257-B943-AF903A0691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6093296"/>
            <a:ext cx="3677994" cy="645578"/>
          </a:xfrm>
        </p:spPr>
      </p:pic>
      <p:graphicFrame>
        <p:nvGraphicFramePr>
          <p:cNvPr id="6" name="Gráfico 33">
            <a:extLst>
              <a:ext uri="{FF2B5EF4-FFF2-40B4-BE49-F238E27FC236}">
                <a16:creationId xmlns:a16="http://schemas.microsoft.com/office/drawing/2014/main" id="{DA8DA429-9701-4E5A-AC3F-971F3A2C295A}"/>
              </a:ext>
            </a:extLst>
          </p:cNvPr>
          <p:cNvGraphicFramePr>
            <a:graphicFrameLocks/>
          </p:cNvGraphicFramePr>
          <p:nvPr/>
        </p:nvGraphicFramePr>
        <p:xfrm>
          <a:off x="1331640" y="1853535"/>
          <a:ext cx="6480720" cy="40957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Rectángulo 35">
            <a:extLst>
              <a:ext uri="{FF2B5EF4-FFF2-40B4-BE49-F238E27FC236}">
                <a16:creationId xmlns:a16="http://schemas.microsoft.com/office/drawing/2014/main" id="{B5987439-A7E4-4087-88ED-F5B4BD6A5CFF}"/>
              </a:ext>
            </a:extLst>
          </p:cNvPr>
          <p:cNvSpPr/>
          <p:nvPr/>
        </p:nvSpPr>
        <p:spPr>
          <a:xfrm>
            <a:off x="1619673" y="1268760"/>
            <a:ext cx="5832648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ca-ES" sz="1600" dirty="0" err="1">
                <a:cs typeface="Arial" panose="020B0604020202020204" pitchFamily="34" charset="0"/>
              </a:rPr>
              <a:t>Monthly</a:t>
            </a:r>
            <a:r>
              <a:rPr lang="ca-ES" sz="1600" dirty="0">
                <a:cs typeface="Arial" panose="020B0604020202020204" pitchFamily="34" charset="0"/>
              </a:rPr>
              <a:t> </a:t>
            </a:r>
            <a:r>
              <a:rPr lang="ca-ES" sz="1600" dirty="0" err="1">
                <a:cs typeface="Arial" panose="020B0604020202020204" pitchFamily="34" charset="0"/>
              </a:rPr>
              <a:t>distribution</a:t>
            </a:r>
            <a:r>
              <a:rPr lang="ca-ES" sz="1600" dirty="0">
                <a:cs typeface="Arial" panose="020B0604020202020204" pitchFamily="34" charset="0"/>
              </a:rPr>
              <a:t> of </a:t>
            </a:r>
            <a:r>
              <a:rPr lang="ca-ES" sz="1600" dirty="0" err="1">
                <a:cs typeface="Arial" panose="020B0604020202020204" pitchFamily="34" charset="0"/>
              </a:rPr>
              <a:t>days</a:t>
            </a:r>
            <a:r>
              <a:rPr lang="ca-ES" sz="1600" dirty="0">
                <a:cs typeface="Arial" panose="020B0604020202020204" pitchFamily="34" charset="0"/>
              </a:rPr>
              <a:t> </a:t>
            </a:r>
            <a:r>
              <a:rPr lang="ca-ES" sz="1600" dirty="0" err="1">
                <a:cs typeface="Arial" panose="020B0604020202020204" pitchFamily="34" charset="0"/>
              </a:rPr>
              <a:t>with</a:t>
            </a:r>
            <a:r>
              <a:rPr lang="ca-ES" sz="1600" dirty="0">
                <a:cs typeface="Arial" panose="020B0604020202020204" pitchFamily="34" charset="0"/>
              </a:rPr>
              <a:t> </a:t>
            </a:r>
            <a:r>
              <a:rPr lang="ca-ES" sz="1600" dirty="0" err="1">
                <a:cs typeface="Arial" panose="020B0604020202020204" pitchFamily="34" charset="0"/>
              </a:rPr>
              <a:t>north</a:t>
            </a:r>
            <a:r>
              <a:rPr lang="ca-ES" sz="1600" dirty="0">
                <a:cs typeface="Arial" panose="020B0604020202020204" pitchFamily="34" charset="0"/>
              </a:rPr>
              <a:t> </a:t>
            </a:r>
            <a:r>
              <a:rPr lang="ca-ES" sz="1600" dirty="0" err="1">
                <a:cs typeface="Arial" panose="020B0604020202020204" pitchFamily="34" charset="0"/>
              </a:rPr>
              <a:t>wind</a:t>
            </a:r>
            <a:r>
              <a:rPr lang="ca-ES" sz="1600" dirty="0">
                <a:cs typeface="Arial" panose="020B0604020202020204" pitchFamily="34" charset="0"/>
              </a:rPr>
              <a:t>: </a:t>
            </a:r>
          </a:p>
          <a:p>
            <a:pPr algn="ctr"/>
            <a:r>
              <a:rPr lang="ca-ES" sz="1600" dirty="0" err="1"/>
              <a:t>observed</a:t>
            </a:r>
            <a:r>
              <a:rPr lang="ca-ES" sz="1600" dirty="0"/>
              <a:t> vs. </a:t>
            </a:r>
            <a:r>
              <a:rPr lang="ca-ES" sz="1600" dirty="0" err="1"/>
              <a:t>simulated</a:t>
            </a:r>
            <a:r>
              <a:rPr lang="ca-ES" sz="1600" dirty="0"/>
              <a:t> </a:t>
            </a:r>
            <a:r>
              <a:rPr lang="ca-ES" sz="1600" dirty="0">
                <a:cs typeface="Arial" panose="020B0604020202020204" pitchFamily="34" charset="0"/>
              </a:rPr>
              <a:t>(</a:t>
            </a:r>
            <a:r>
              <a:rPr lang="ca-ES" sz="1600" dirty="0"/>
              <a:t>2006</a:t>
            </a:r>
            <a:r>
              <a:rPr lang="ca-ES" sz="1600" dirty="0">
                <a:cs typeface="Arial" panose="020B0604020202020204" pitchFamily="34" charset="0"/>
              </a:rPr>
              <a:t>-2019)</a:t>
            </a:r>
          </a:p>
        </p:txBody>
      </p:sp>
    </p:spTree>
    <p:extLst>
      <p:ext uri="{BB962C8B-B14F-4D97-AF65-F5344CB8AC3E}">
        <p14:creationId xmlns:p14="http://schemas.microsoft.com/office/powerpoint/2010/main" val="3215926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ol 1">
            <a:extLst>
              <a:ext uri="{FF2B5EF4-FFF2-40B4-BE49-F238E27FC236}">
                <a16:creationId xmlns:a16="http://schemas.microsoft.com/office/drawing/2014/main" id="{87832F86-5FED-4835-A8C7-BFB345636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ca-ES" dirty="0"/>
              <a:t>2. Projection of </a:t>
            </a:r>
            <a:r>
              <a:rPr lang="en-CA" altLang="ca-ES" dirty="0" err="1"/>
              <a:t>tramuntana</a:t>
            </a:r>
            <a:r>
              <a:rPr lang="en-CA" altLang="ca-ES" dirty="0"/>
              <a:t> patterns (2006-2100)</a:t>
            </a:r>
          </a:p>
        </p:txBody>
      </p:sp>
      <p:sp>
        <p:nvSpPr>
          <p:cNvPr id="7172" name="Contenidor de número de diapositiva 4">
            <a:extLst>
              <a:ext uri="{FF2B5EF4-FFF2-40B4-BE49-F238E27FC236}">
                <a16:creationId xmlns:a16="http://schemas.microsoft.com/office/drawing/2014/main" id="{39231D9B-6211-4FCA-B0A1-C3E8D65A5625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C00000"/>
              </a:buClr>
              <a:buFont typeface="Wingdings 2" panose="05020102010507070707" pitchFamily="18" charset="2"/>
              <a:buChar char="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1410FFA-C283-428E-8B07-2311B2610812}" type="slidenum">
              <a:rPr lang="ca-ES" altLang="ca-ES">
                <a:solidFill>
                  <a:srgbClr val="898989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ca-ES" altLang="ca-ES">
              <a:solidFill>
                <a:srgbClr val="898989"/>
              </a:solidFill>
            </a:endParaRPr>
          </a:p>
        </p:txBody>
      </p:sp>
      <p:pic>
        <p:nvPicPr>
          <p:cNvPr id="3" name="Contenidor de contingut 2">
            <a:extLst>
              <a:ext uri="{FF2B5EF4-FFF2-40B4-BE49-F238E27FC236}">
                <a16:creationId xmlns:a16="http://schemas.microsoft.com/office/drawing/2014/main" id="{496EC4D9-7834-4257-B943-AF903A0691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6093296"/>
            <a:ext cx="3677994" cy="645578"/>
          </a:xfr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D92DD840-2A80-4AEB-AF4E-80075581171F}"/>
              </a:ext>
            </a:extLst>
          </p:cNvPr>
          <p:cNvSpPr/>
          <p:nvPr/>
        </p:nvSpPr>
        <p:spPr>
          <a:xfrm>
            <a:off x="539552" y="3650707"/>
            <a:ext cx="2943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ca-ES" b="1" dirty="0"/>
              <a:t>PATERN (C2) – </a:t>
            </a:r>
            <a:r>
              <a:rPr lang="ca-ES" b="1" dirty="0" err="1"/>
              <a:t>Cyclonic</a:t>
            </a:r>
            <a:r>
              <a:rPr lang="ca-ES" b="1" dirty="0"/>
              <a:t> </a:t>
            </a:r>
            <a:r>
              <a:rPr lang="ca-ES" b="1" dirty="0" err="1"/>
              <a:t>north</a:t>
            </a:r>
            <a:endParaRPr lang="ca-ES" b="1" dirty="0"/>
          </a:p>
        </p:txBody>
      </p:sp>
      <p:pic>
        <p:nvPicPr>
          <p:cNvPr id="10" name="Imagen 4">
            <a:extLst>
              <a:ext uri="{FF2B5EF4-FFF2-40B4-BE49-F238E27FC236}">
                <a16:creationId xmlns:a16="http://schemas.microsoft.com/office/drawing/2014/main" id="{36AA4132-7E8E-4C82-9B34-8C8720C48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119" y="1569823"/>
            <a:ext cx="2746718" cy="1650953"/>
          </a:xfrm>
          <a:prstGeom prst="rect">
            <a:avLst/>
          </a:prstGeom>
        </p:spPr>
      </p:pic>
      <p:pic>
        <p:nvPicPr>
          <p:cNvPr id="12" name="Imagen 3">
            <a:extLst>
              <a:ext uri="{FF2B5EF4-FFF2-40B4-BE49-F238E27FC236}">
                <a16:creationId xmlns:a16="http://schemas.microsoft.com/office/drawing/2014/main" id="{0EF4BC82-9395-40D3-AAB4-DE992BDC3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1211" y="4278234"/>
            <a:ext cx="2764626" cy="166171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B9DA412-1D16-4DAF-8FE6-706788D7544D}"/>
              </a:ext>
            </a:extLst>
          </p:cNvPr>
          <p:cNvSpPr/>
          <p:nvPr/>
        </p:nvSpPr>
        <p:spPr>
          <a:xfrm>
            <a:off x="5319119" y="1211700"/>
            <a:ext cx="8943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ca-ES" dirty="0"/>
              <a:t>RCP 4.5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0597AE-1D72-491E-B35E-0528C272013C}"/>
              </a:ext>
            </a:extLst>
          </p:cNvPr>
          <p:cNvSpPr/>
          <p:nvPr/>
        </p:nvSpPr>
        <p:spPr>
          <a:xfrm>
            <a:off x="5213585" y="3915925"/>
            <a:ext cx="8943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ca-ES" dirty="0"/>
              <a:t>RCP 8.5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F9DEA72-1F82-4D11-8D26-2C4E435809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492" y="1146488"/>
            <a:ext cx="2363724" cy="2510313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FC05C113-BACB-48AD-BC20-1AA9CA85F83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4919" t="957" r="24818" b="1456"/>
          <a:stretch/>
        </p:blipFill>
        <p:spPr>
          <a:xfrm>
            <a:off x="2766910" y="1146488"/>
            <a:ext cx="2115943" cy="2497624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FF9DEA72-1F82-4D11-8D26-2C4E435809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492" y="4108878"/>
            <a:ext cx="2410963" cy="2560482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B84104B7-0B24-4FE0-B1FC-3E470637BDD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5523" t="420" r="24969" b="562"/>
          <a:stretch/>
        </p:blipFill>
        <p:spPr>
          <a:xfrm>
            <a:off x="2694337" y="4108879"/>
            <a:ext cx="2145095" cy="2560481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E52FFECC-D2A5-441B-9D7A-076712B0E06E}"/>
              </a:ext>
            </a:extLst>
          </p:cNvPr>
          <p:cNvSpPr txBox="1"/>
          <p:nvPr/>
        </p:nvSpPr>
        <p:spPr>
          <a:xfrm>
            <a:off x="5213585" y="5971547"/>
            <a:ext cx="40757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1400" dirty="0" err="1"/>
              <a:t>Change</a:t>
            </a:r>
            <a:r>
              <a:rPr lang="ca-ES" sz="1400" dirty="0"/>
              <a:t> in </a:t>
            </a:r>
            <a:r>
              <a:rPr lang="ca-ES" sz="1400" dirty="0" err="1"/>
              <a:t>the</a:t>
            </a:r>
            <a:r>
              <a:rPr lang="ca-ES" sz="1400" dirty="0"/>
              <a:t> </a:t>
            </a:r>
            <a:r>
              <a:rPr lang="ca-ES" sz="1400" dirty="0" err="1"/>
              <a:t>seasonal</a:t>
            </a:r>
            <a:r>
              <a:rPr lang="ca-ES" sz="1400" dirty="0"/>
              <a:t> </a:t>
            </a:r>
            <a:r>
              <a:rPr lang="ca-ES" sz="1400" dirty="0" err="1"/>
              <a:t>regime</a:t>
            </a:r>
            <a:r>
              <a:rPr lang="ca-ES" sz="1400" dirty="0"/>
              <a:t> in </a:t>
            </a:r>
            <a:r>
              <a:rPr lang="ca-ES" sz="1400" dirty="0" err="1"/>
              <a:t>favour</a:t>
            </a:r>
            <a:r>
              <a:rPr lang="ca-ES" sz="1400" dirty="0"/>
              <a:t> for AUTUMN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2397683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ol 1">
            <a:extLst>
              <a:ext uri="{FF2B5EF4-FFF2-40B4-BE49-F238E27FC236}">
                <a16:creationId xmlns:a16="http://schemas.microsoft.com/office/drawing/2014/main" id="{87832F86-5FED-4835-A8C7-BFB345636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ca-ES" dirty="0"/>
              <a:t>2. Projection of </a:t>
            </a:r>
            <a:r>
              <a:rPr lang="en-CA" altLang="ca-ES" dirty="0" err="1"/>
              <a:t>tramuntana</a:t>
            </a:r>
            <a:r>
              <a:rPr lang="en-CA" altLang="ca-ES" dirty="0"/>
              <a:t> patterns (2006-2100)</a:t>
            </a:r>
          </a:p>
        </p:txBody>
      </p:sp>
      <p:sp>
        <p:nvSpPr>
          <p:cNvPr id="7172" name="Contenidor de número de diapositiva 4">
            <a:extLst>
              <a:ext uri="{FF2B5EF4-FFF2-40B4-BE49-F238E27FC236}">
                <a16:creationId xmlns:a16="http://schemas.microsoft.com/office/drawing/2014/main" id="{39231D9B-6211-4FCA-B0A1-C3E8D65A5625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C00000"/>
              </a:buClr>
              <a:buFont typeface="Wingdings 2" panose="05020102010507070707" pitchFamily="18" charset="2"/>
              <a:buChar char="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1410FFA-C283-428E-8B07-2311B2610812}" type="slidenum">
              <a:rPr lang="ca-ES" altLang="ca-ES">
                <a:solidFill>
                  <a:srgbClr val="898989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ca-ES" altLang="ca-ES">
              <a:solidFill>
                <a:srgbClr val="898989"/>
              </a:solidFill>
            </a:endParaRPr>
          </a:p>
        </p:txBody>
      </p:sp>
      <p:pic>
        <p:nvPicPr>
          <p:cNvPr id="3" name="Contenidor de contingut 2">
            <a:extLst>
              <a:ext uri="{FF2B5EF4-FFF2-40B4-BE49-F238E27FC236}">
                <a16:creationId xmlns:a16="http://schemas.microsoft.com/office/drawing/2014/main" id="{496EC4D9-7834-4257-B943-AF903A0691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6093296"/>
            <a:ext cx="3677994" cy="645578"/>
          </a:xfrm>
        </p:spPr>
      </p:pic>
      <p:pic>
        <p:nvPicPr>
          <p:cNvPr id="8" name="Imagen 6">
            <a:extLst>
              <a:ext uri="{FF2B5EF4-FFF2-40B4-BE49-F238E27FC236}">
                <a16:creationId xmlns:a16="http://schemas.microsoft.com/office/drawing/2014/main" id="{E5AC03F2-D9EF-45C6-810A-BA7D450A557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757" y="1196752"/>
            <a:ext cx="5885428" cy="2808312"/>
          </a:xfrm>
          <a:prstGeom prst="rect">
            <a:avLst/>
          </a:prstGeom>
          <a:noFill/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D92DD840-2A80-4AEB-AF4E-80075581171F}"/>
              </a:ext>
            </a:extLst>
          </p:cNvPr>
          <p:cNvSpPr/>
          <p:nvPr/>
        </p:nvSpPr>
        <p:spPr>
          <a:xfrm>
            <a:off x="6185517" y="3869681"/>
            <a:ext cx="2943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ca-ES" b="1" dirty="0"/>
              <a:t>PATERN (C2) – </a:t>
            </a:r>
            <a:r>
              <a:rPr lang="ca-ES" b="1" dirty="0" err="1"/>
              <a:t>Cyclonic</a:t>
            </a:r>
            <a:r>
              <a:rPr lang="ca-ES" b="1" dirty="0"/>
              <a:t> </a:t>
            </a:r>
            <a:r>
              <a:rPr lang="ca-ES" b="1" dirty="0" err="1"/>
              <a:t>north</a:t>
            </a:r>
            <a:endParaRPr lang="ca-ES" b="1" dirty="0"/>
          </a:p>
        </p:txBody>
      </p:sp>
      <p:pic>
        <p:nvPicPr>
          <p:cNvPr id="11" name="Imagen 4">
            <a:extLst>
              <a:ext uri="{FF2B5EF4-FFF2-40B4-BE49-F238E27FC236}">
                <a16:creationId xmlns:a16="http://schemas.microsoft.com/office/drawing/2014/main" id="{0AFDBCC9-CA50-4718-AA7F-AF0B81589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14" y="4077072"/>
            <a:ext cx="5896271" cy="270601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B9DA412-1D16-4DAF-8FE6-706788D7544D}"/>
              </a:ext>
            </a:extLst>
          </p:cNvPr>
          <p:cNvSpPr/>
          <p:nvPr/>
        </p:nvSpPr>
        <p:spPr>
          <a:xfrm>
            <a:off x="6385177" y="1196752"/>
            <a:ext cx="8943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ca-ES" dirty="0"/>
              <a:t>RCP 4.5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0597AE-1D72-491E-B35E-0528C272013C}"/>
              </a:ext>
            </a:extLst>
          </p:cNvPr>
          <p:cNvSpPr/>
          <p:nvPr/>
        </p:nvSpPr>
        <p:spPr>
          <a:xfrm>
            <a:off x="6305995" y="6436686"/>
            <a:ext cx="8943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ca-ES" dirty="0"/>
              <a:t>RCP 8.5</a:t>
            </a:r>
          </a:p>
        </p:txBody>
      </p:sp>
    </p:spTree>
    <p:extLst>
      <p:ext uri="{BB962C8B-B14F-4D97-AF65-F5344CB8AC3E}">
        <p14:creationId xmlns:p14="http://schemas.microsoft.com/office/powerpoint/2010/main" val="1418852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ol 1">
            <a:extLst>
              <a:ext uri="{FF2B5EF4-FFF2-40B4-BE49-F238E27FC236}">
                <a16:creationId xmlns:a16="http://schemas.microsoft.com/office/drawing/2014/main" id="{87832F86-5FED-4835-A8C7-BFB345636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ca-ES" dirty="0"/>
              <a:t>2. Projection of </a:t>
            </a:r>
            <a:r>
              <a:rPr lang="en-CA" altLang="ca-ES" dirty="0" err="1"/>
              <a:t>tramuntana</a:t>
            </a:r>
            <a:r>
              <a:rPr lang="en-CA" altLang="ca-ES" dirty="0"/>
              <a:t> patterns (2006-2100)</a:t>
            </a:r>
          </a:p>
        </p:txBody>
      </p:sp>
      <p:sp>
        <p:nvSpPr>
          <p:cNvPr id="7172" name="Contenidor de número de diapositiva 4">
            <a:extLst>
              <a:ext uri="{FF2B5EF4-FFF2-40B4-BE49-F238E27FC236}">
                <a16:creationId xmlns:a16="http://schemas.microsoft.com/office/drawing/2014/main" id="{39231D9B-6211-4FCA-B0A1-C3E8D65A5625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C00000"/>
              </a:buClr>
              <a:buFont typeface="Wingdings 2" panose="05020102010507070707" pitchFamily="18" charset="2"/>
              <a:buChar char="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1410FFA-C283-428E-8B07-2311B2610812}" type="slidenum">
              <a:rPr lang="ca-ES" altLang="ca-ES">
                <a:solidFill>
                  <a:srgbClr val="898989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ca-ES" altLang="ca-ES">
              <a:solidFill>
                <a:srgbClr val="898989"/>
              </a:solidFill>
            </a:endParaRPr>
          </a:p>
        </p:txBody>
      </p:sp>
      <p:pic>
        <p:nvPicPr>
          <p:cNvPr id="3" name="Contenidor de contingut 2">
            <a:extLst>
              <a:ext uri="{FF2B5EF4-FFF2-40B4-BE49-F238E27FC236}">
                <a16:creationId xmlns:a16="http://schemas.microsoft.com/office/drawing/2014/main" id="{496EC4D9-7834-4257-B943-AF903A0691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6093296"/>
            <a:ext cx="3677994" cy="645578"/>
          </a:xfrm>
        </p:spPr>
      </p:pic>
      <p:sp>
        <p:nvSpPr>
          <p:cNvPr id="15" name="Rectangle 1">
            <a:extLst>
              <a:ext uri="{FF2B5EF4-FFF2-40B4-BE49-F238E27FC236}">
                <a16:creationId xmlns:a16="http://schemas.microsoft.com/office/drawing/2014/main" id="{FF7D1E87-DF8B-4E4C-A34E-E9A127BD2FE0}"/>
              </a:ext>
            </a:extLst>
          </p:cNvPr>
          <p:cNvSpPr/>
          <p:nvPr/>
        </p:nvSpPr>
        <p:spPr>
          <a:xfrm>
            <a:off x="420057" y="3853919"/>
            <a:ext cx="26090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ca-ES" b="1" dirty="0"/>
              <a:t>PATERN (C3) – </a:t>
            </a:r>
            <a:r>
              <a:rPr lang="ca-ES" b="1" dirty="0" err="1"/>
              <a:t>North-east</a:t>
            </a:r>
            <a:endParaRPr lang="ca-ES" b="1" dirty="0"/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6EF630DA-A132-44E9-9F49-1A4F1E3E0040}"/>
              </a:ext>
            </a:extLst>
          </p:cNvPr>
          <p:cNvSpPr/>
          <p:nvPr/>
        </p:nvSpPr>
        <p:spPr>
          <a:xfrm>
            <a:off x="5658853" y="1256936"/>
            <a:ext cx="8943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ca-ES" dirty="0"/>
              <a:t>RCP 4.5</a:t>
            </a: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A03DBC8F-5D55-49AE-9010-DC032388BBE5}"/>
              </a:ext>
            </a:extLst>
          </p:cNvPr>
          <p:cNvSpPr/>
          <p:nvPr/>
        </p:nvSpPr>
        <p:spPr>
          <a:xfrm>
            <a:off x="5653937" y="4180728"/>
            <a:ext cx="8943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ca-ES" dirty="0"/>
              <a:t>RCP 8.5</a:t>
            </a:r>
          </a:p>
        </p:txBody>
      </p:sp>
      <p:pic>
        <p:nvPicPr>
          <p:cNvPr id="20" name="Imagen 7">
            <a:extLst>
              <a:ext uri="{FF2B5EF4-FFF2-40B4-BE49-F238E27FC236}">
                <a16:creationId xmlns:a16="http://schemas.microsoft.com/office/drawing/2014/main" id="{E180426D-F612-4A94-B35E-7BD807DF2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336" y="4562923"/>
            <a:ext cx="3056127" cy="1836928"/>
          </a:xfrm>
          <a:prstGeom prst="rect">
            <a:avLst/>
          </a:prstGeom>
        </p:spPr>
      </p:pic>
      <p:pic>
        <p:nvPicPr>
          <p:cNvPr id="21" name="Imagen 5">
            <a:extLst>
              <a:ext uri="{FF2B5EF4-FFF2-40B4-BE49-F238E27FC236}">
                <a16:creationId xmlns:a16="http://schemas.microsoft.com/office/drawing/2014/main" id="{07CC9C88-9EE8-48E5-9AF8-342084B41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2311" y="1638864"/>
            <a:ext cx="3217880" cy="1934152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16F1B47C-88DF-4ADC-9CA1-AD7BDB1812C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5855" t="1337" r="25468" b="1109"/>
          <a:stretch/>
        </p:blipFill>
        <p:spPr>
          <a:xfrm>
            <a:off x="3029105" y="1147591"/>
            <a:ext cx="2245512" cy="273600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0D07434E-3D21-430E-AE77-601DF6D5D2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536" y="1145148"/>
            <a:ext cx="2541442" cy="2689200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0D07434E-3D21-430E-AE77-601DF6D5D2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49" y="4168800"/>
            <a:ext cx="2541442" cy="2689200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05271C57-28CF-4C74-911F-8CC28AC6226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5191" t="1649" r="24637" b="798"/>
          <a:stretch/>
        </p:blipFill>
        <p:spPr>
          <a:xfrm>
            <a:off x="3146003" y="4142018"/>
            <a:ext cx="2253580" cy="26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992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ol 1">
            <a:extLst>
              <a:ext uri="{FF2B5EF4-FFF2-40B4-BE49-F238E27FC236}">
                <a16:creationId xmlns:a16="http://schemas.microsoft.com/office/drawing/2014/main" id="{87832F86-5FED-4835-A8C7-BFB345636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ca-ES" dirty="0"/>
              <a:t>2. Projection of </a:t>
            </a:r>
            <a:r>
              <a:rPr lang="en-CA" altLang="ca-ES" dirty="0" err="1"/>
              <a:t>tramuntana</a:t>
            </a:r>
            <a:r>
              <a:rPr lang="en-CA" altLang="ca-ES" dirty="0"/>
              <a:t> patterns (2006-2100)</a:t>
            </a:r>
          </a:p>
        </p:txBody>
      </p:sp>
      <p:sp>
        <p:nvSpPr>
          <p:cNvPr id="7172" name="Contenidor de número de diapositiva 4">
            <a:extLst>
              <a:ext uri="{FF2B5EF4-FFF2-40B4-BE49-F238E27FC236}">
                <a16:creationId xmlns:a16="http://schemas.microsoft.com/office/drawing/2014/main" id="{39231D9B-6211-4FCA-B0A1-C3E8D65A5625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C00000"/>
              </a:buClr>
              <a:buFont typeface="Wingdings 2" panose="05020102010507070707" pitchFamily="18" charset="2"/>
              <a:buChar char="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1410FFA-C283-428E-8B07-2311B2610812}" type="slidenum">
              <a:rPr lang="ca-ES" altLang="ca-ES">
                <a:solidFill>
                  <a:srgbClr val="898989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ca-ES" altLang="ca-ES">
              <a:solidFill>
                <a:srgbClr val="898989"/>
              </a:solidFill>
            </a:endParaRPr>
          </a:p>
        </p:txBody>
      </p:sp>
      <p:pic>
        <p:nvPicPr>
          <p:cNvPr id="3" name="Contenidor de contingut 2">
            <a:extLst>
              <a:ext uri="{FF2B5EF4-FFF2-40B4-BE49-F238E27FC236}">
                <a16:creationId xmlns:a16="http://schemas.microsoft.com/office/drawing/2014/main" id="{496EC4D9-7834-4257-B943-AF903A0691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6093296"/>
            <a:ext cx="3677994" cy="645578"/>
          </a:xfrm>
        </p:spPr>
      </p:pic>
      <p:sp>
        <p:nvSpPr>
          <p:cNvPr id="15" name="Rectangle 1">
            <a:extLst>
              <a:ext uri="{FF2B5EF4-FFF2-40B4-BE49-F238E27FC236}">
                <a16:creationId xmlns:a16="http://schemas.microsoft.com/office/drawing/2014/main" id="{FF7D1E87-DF8B-4E4C-A34E-E9A127BD2FE0}"/>
              </a:ext>
            </a:extLst>
          </p:cNvPr>
          <p:cNvSpPr/>
          <p:nvPr/>
        </p:nvSpPr>
        <p:spPr>
          <a:xfrm>
            <a:off x="6355440" y="3848111"/>
            <a:ext cx="26090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ca-ES" b="1" dirty="0"/>
              <a:t>PATERN (C3) – </a:t>
            </a:r>
            <a:r>
              <a:rPr lang="ca-ES" b="1" dirty="0" err="1"/>
              <a:t>North-east</a:t>
            </a:r>
            <a:endParaRPr lang="ca-ES" b="1" dirty="0"/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6EF630DA-A132-44E9-9F49-1A4F1E3E0040}"/>
              </a:ext>
            </a:extLst>
          </p:cNvPr>
          <p:cNvSpPr/>
          <p:nvPr/>
        </p:nvSpPr>
        <p:spPr>
          <a:xfrm>
            <a:off x="6385177" y="1196752"/>
            <a:ext cx="8943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ca-ES" dirty="0"/>
              <a:t>RCP 4.5</a:t>
            </a: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A03DBC8F-5D55-49AE-9010-DC032388BBE5}"/>
              </a:ext>
            </a:extLst>
          </p:cNvPr>
          <p:cNvSpPr/>
          <p:nvPr/>
        </p:nvSpPr>
        <p:spPr>
          <a:xfrm>
            <a:off x="6305995" y="6436686"/>
            <a:ext cx="8943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ca-ES" dirty="0"/>
              <a:t>RCP 8.5</a:t>
            </a:r>
          </a:p>
        </p:txBody>
      </p:sp>
      <p:pic>
        <p:nvPicPr>
          <p:cNvPr id="18" name="Imagen 4">
            <a:extLst>
              <a:ext uri="{FF2B5EF4-FFF2-40B4-BE49-F238E27FC236}">
                <a16:creationId xmlns:a16="http://schemas.microsoft.com/office/drawing/2014/main" id="{72EC16A2-DFCD-46EB-8904-4B2162E14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14" y="1299046"/>
            <a:ext cx="5970574" cy="2706018"/>
          </a:xfrm>
          <a:prstGeom prst="rect">
            <a:avLst/>
          </a:prstGeom>
        </p:spPr>
      </p:pic>
      <p:pic>
        <p:nvPicPr>
          <p:cNvPr id="19" name="Imagen 2">
            <a:extLst>
              <a:ext uri="{FF2B5EF4-FFF2-40B4-BE49-F238E27FC236}">
                <a16:creationId xmlns:a16="http://schemas.microsoft.com/office/drawing/2014/main" id="{13834C6A-777D-474B-BF09-FCBC52C759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15" y="4075555"/>
            <a:ext cx="5970574" cy="2737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759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ol 1">
            <a:extLst>
              <a:ext uri="{FF2B5EF4-FFF2-40B4-BE49-F238E27FC236}">
                <a16:creationId xmlns:a16="http://schemas.microsoft.com/office/drawing/2014/main" id="{87832F86-5FED-4835-A8C7-BFB345636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ca-ES" dirty="0"/>
              <a:t>2. Projection of </a:t>
            </a:r>
            <a:r>
              <a:rPr lang="en-CA" altLang="ca-ES" dirty="0" err="1"/>
              <a:t>tramuntana</a:t>
            </a:r>
            <a:r>
              <a:rPr lang="en-CA" altLang="ca-ES" dirty="0"/>
              <a:t> patterns (2006-2100)</a:t>
            </a:r>
          </a:p>
        </p:txBody>
      </p:sp>
      <p:sp>
        <p:nvSpPr>
          <p:cNvPr id="7172" name="Contenidor de número de diapositiva 4">
            <a:extLst>
              <a:ext uri="{FF2B5EF4-FFF2-40B4-BE49-F238E27FC236}">
                <a16:creationId xmlns:a16="http://schemas.microsoft.com/office/drawing/2014/main" id="{39231D9B-6211-4FCA-B0A1-C3E8D65A5625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C00000"/>
              </a:buClr>
              <a:buFont typeface="Wingdings 2" panose="05020102010507070707" pitchFamily="18" charset="2"/>
              <a:buChar char="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1410FFA-C283-428E-8B07-2311B2610812}" type="slidenum">
              <a:rPr lang="ca-ES" altLang="ca-ES">
                <a:solidFill>
                  <a:srgbClr val="898989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ca-ES" altLang="ca-ES">
              <a:solidFill>
                <a:srgbClr val="898989"/>
              </a:solidFill>
            </a:endParaRPr>
          </a:p>
        </p:txBody>
      </p:sp>
      <p:pic>
        <p:nvPicPr>
          <p:cNvPr id="3" name="Contenidor de contingut 2">
            <a:extLst>
              <a:ext uri="{FF2B5EF4-FFF2-40B4-BE49-F238E27FC236}">
                <a16:creationId xmlns:a16="http://schemas.microsoft.com/office/drawing/2014/main" id="{496EC4D9-7834-4257-B943-AF903A0691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6093296"/>
            <a:ext cx="3677994" cy="645578"/>
          </a:xfr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CEFC9503-D6F0-45C2-89F8-4F9D9C18DC51}"/>
              </a:ext>
            </a:extLst>
          </p:cNvPr>
          <p:cNvSpPr/>
          <p:nvPr/>
        </p:nvSpPr>
        <p:spPr>
          <a:xfrm>
            <a:off x="357188" y="3818538"/>
            <a:ext cx="32621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ca-ES" b="1" dirty="0"/>
              <a:t>PATERN (C4) –</a:t>
            </a:r>
            <a:r>
              <a:rPr lang="ca-ES" b="1" dirty="0" err="1"/>
              <a:t>Anticyclonic</a:t>
            </a:r>
            <a:r>
              <a:rPr lang="ca-ES" b="1" dirty="0"/>
              <a:t> </a:t>
            </a:r>
            <a:r>
              <a:rPr lang="ca-ES" b="1" dirty="0" err="1"/>
              <a:t>north</a:t>
            </a:r>
            <a:endParaRPr lang="ca-ES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CB4E67-2B90-4976-9DD7-093BD2D21204}"/>
              </a:ext>
            </a:extLst>
          </p:cNvPr>
          <p:cNvSpPr/>
          <p:nvPr/>
        </p:nvSpPr>
        <p:spPr>
          <a:xfrm>
            <a:off x="5489971" y="1227618"/>
            <a:ext cx="8943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ca-ES" dirty="0"/>
              <a:t>RCP 4.5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2EE473-8770-467A-8CF0-6F325DE2215A}"/>
              </a:ext>
            </a:extLst>
          </p:cNvPr>
          <p:cNvSpPr/>
          <p:nvPr/>
        </p:nvSpPr>
        <p:spPr>
          <a:xfrm>
            <a:off x="5544862" y="4188634"/>
            <a:ext cx="8943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ca-ES" dirty="0"/>
              <a:t>RCP 8.5</a:t>
            </a:r>
          </a:p>
        </p:txBody>
      </p:sp>
      <p:pic>
        <p:nvPicPr>
          <p:cNvPr id="24" name="Imagen 4">
            <a:extLst>
              <a:ext uri="{FF2B5EF4-FFF2-40B4-BE49-F238E27FC236}">
                <a16:creationId xmlns:a16="http://schemas.microsoft.com/office/drawing/2014/main" id="{83CEB960-5299-44E0-B4ED-2E89E0B1B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112" y="4536654"/>
            <a:ext cx="3106688" cy="1867318"/>
          </a:xfrm>
          <a:prstGeom prst="rect">
            <a:avLst/>
          </a:prstGeom>
        </p:spPr>
      </p:pic>
      <p:pic>
        <p:nvPicPr>
          <p:cNvPr id="25" name="Imagen 5">
            <a:extLst>
              <a:ext uri="{FF2B5EF4-FFF2-40B4-BE49-F238E27FC236}">
                <a16:creationId xmlns:a16="http://schemas.microsoft.com/office/drawing/2014/main" id="{91352221-901A-4008-867C-FBE1142B3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0112" y="1717018"/>
            <a:ext cx="3106688" cy="1867318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5BC77CF2-D38B-4465-A562-E18522341C2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5461" t="1363" r="24865" b="1084"/>
          <a:stretch/>
        </p:blipFill>
        <p:spPr>
          <a:xfrm>
            <a:off x="2940522" y="1124744"/>
            <a:ext cx="2252299" cy="2689200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6736A404-EB99-4BBD-8A0B-2616653B471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5259" t="1903" r="23607" b="1402"/>
          <a:stretch/>
        </p:blipFill>
        <p:spPr>
          <a:xfrm>
            <a:off x="395536" y="1124744"/>
            <a:ext cx="2544986" cy="2689200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6736A404-EB99-4BBD-8A0B-2616653B471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5259" t="1903" r="23607" b="1402"/>
          <a:stretch/>
        </p:blipFill>
        <p:spPr>
          <a:xfrm>
            <a:off x="404068" y="4124176"/>
            <a:ext cx="2544986" cy="2689200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FA73E47D-DEEB-41B4-A550-21962F73DEB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5689" t="1064" r="24637" b="1109"/>
          <a:stretch/>
        </p:blipFill>
        <p:spPr>
          <a:xfrm>
            <a:off x="2956391" y="4124176"/>
            <a:ext cx="2246008" cy="26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93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ol 1">
            <a:extLst>
              <a:ext uri="{FF2B5EF4-FFF2-40B4-BE49-F238E27FC236}">
                <a16:creationId xmlns:a16="http://schemas.microsoft.com/office/drawing/2014/main" id="{87832F86-5FED-4835-A8C7-BFB345636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ca-ES" dirty="0"/>
              <a:t>2. Projection of </a:t>
            </a:r>
            <a:r>
              <a:rPr lang="en-CA" altLang="ca-ES" dirty="0" err="1"/>
              <a:t>tramuntana</a:t>
            </a:r>
            <a:r>
              <a:rPr lang="en-CA" altLang="ca-ES" dirty="0"/>
              <a:t> patterns (2006-2100)</a:t>
            </a:r>
          </a:p>
        </p:txBody>
      </p:sp>
      <p:sp>
        <p:nvSpPr>
          <p:cNvPr id="7172" name="Contenidor de número de diapositiva 4">
            <a:extLst>
              <a:ext uri="{FF2B5EF4-FFF2-40B4-BE49-F238E27FC236}">
                <a16:creationId xmlns:a16="http://schemas.microsoft.com/office/drawing/2014/main" id="{39231D9B-6211-4FCA-B0A1-C3E8D65A5625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C00000"/>
              </a:buClr>
              <a:buFont typeface="Wingdings 2" panose="05020102010507070707" pitchFamily="18" charset="2"/>
              <a:buChar char="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1410FFA-C283-428E-8B07-2311B2610812}" type="slidenum">
              <a:rPr lang="ca-ES" altLang="ca-ES">
                <a:solidFill>
                  <a:srgbClr val="898989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ca-ES" altLang="ca-ES">
              <a:solidFill>
                <a:srgbClr val="898989"/>
              </a:solidFill>
            </a:endParaRPr>
          </a:p>
        </p:txBody>
      </p:sp>
      <p:pic>
        <p:nvPicPr>
          <p:cNvPr id="3" name="Contenidor de contingut 2">
            <a:extLst>
              <a:ext uri="{FF2B5EF4-FFF2-40B4-BE49-F238E27FC236}">
                <a16:creationId xmlns:a16="http://schemas.microsoft.com/office/drawing/2014/main" id="{496EC4D9-7834-4257-B943-AF903A0691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6093296"/>
            <a:ext cx="3677994" cy="645578"/>
          </a:xfr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CEFC9503-D6F0-45C2-89F8-4F9D9C18DC51}"/>
              </a:ext>
            </a:extLst>
          </p:cNvPr>
          <p:cNvSpPr/>
          <p:nvPr/>
        </p:nvSpPr>
        <p:spPr>
          <a:xfrm>
            <a:off x="6683016" y="3787861"/>
            <a:ext cx="19204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ca-ES" b="1" dirty="0"/>
              <a:t>PATERN (C4) – </a:t>
            </a:r>
            <a:br>
              <a:rPr lang="ca-ES" b="1" dirty="0"/>
            </a:br>
            <a:r>
              <a:rPr lang="ca-ES" b="1" dirty="0" err="1"/>
              <a:t>Anticyclonic</a:t>
            </a:r>
            <a:r>
              <a:rPr lang="ca-ES" b="1" dirty="0"/>
              <a:t> </a:t>
            </a:r>
            <a:r>
              <a:rPr lang="ca-ES" b="1" dirty="0" err="1"/>
              <a:t>north</a:t>
            </a:r>
            <a:endParaRPr lang="ca-ES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CB4E67-2B90-4976-9DD7-093BD2D21204}"/>
              </a:ext>
            </a:extLst>
          </p:cNvPr>
          <p:cNvSpPr/>
          <p:nvPr/>
        </p:nvSpPr>
        <p:spPr>
          <a:xfrm>
            <a:off x="6385177" y="1196752"/>
            <a:ext cx="8943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ca-ES" dirty="0"/>
              <a:t>RCP 4.5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2EE473-8770-467A-8CF0-6F325DE2215A}"/>
              </a:ext>
            </a:extLst>
          </p:cNvPr>
          <p:cNvSpPr/>
          <p:nvPr/>
        </p:nvSpPr>
        <p:spPr>
          <a:xfrm>
            <a:off x="6305995" y="6436686"/>
            <a:ext cx="8943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ca-ES" dirty="0"/>
              <a:t>RCP 8.5</a:t>
            </a:r>
          </a:p>
        </p:txBody>
      </p:sp>
      <p:pic>
        <p:nvPicPr>
          <p:cNvPr id="22" name="Imagen 3">
            <a:extLst>
              <a:ext uri="{FF2B5EF4-FFF2-40B4-BE49-F238E27FC236}">
                <a16:creationId xmlns:a16="http://schemas.microsoft.com/office/drawing/2014/main" id="{EC5FED8A-28CC-4221-9ABF-599E08391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07" y="1268760"/>
            <a:ext cx="5980598" cy="2754382"/>
          </a:xfrm>
          <a:prstGeom prst="rect">
            <a:avLst/>
          </a:prstGeom>
        </p:spPr>
      </p:pic>
      <p:pic>
        <p:nvPicPr>
          <p:cNvPr id="23" name="Imagen 1">
            <a:extLst>
              <a:ext uri="{FF2B5EF4-FFF2-40B4-BE49-F238E27FC236}">
                <a16:creationId xmlns:a16="http://schemas.microsoft.com/office/drawing/2014/main" id="{EB15FA44-552D-4989-94D6-D5F4F7E54B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013" y="4058997"/>
            <a:ext cx="5980598" cy="2754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478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ol 1">
            <a:extLst>
              <a:ext uri="{FF2B5EF4-FFF2-40B4-BE49-F238E27FC236}">
                <a16:creationId xmlns:a16="http://schemas.microsoft.com/office/drawing/2014/main" id="{87832F86-5FED-4835-A8C7-BFB345636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ca-ES" dirty="0"/>
              <a:t>3. Conclusions</a:t>
            </a:r>
          </a:p>
        </p:txBody>
      </p:sp>
      <p:sp>
        <p:nvSpPr>
          <p:cNvPr id="7172" name="Contenidor de número de diapositiva 4">
            <a:extLst>
              <a:ext uri="{FF2B5EF4-FFF2-40B4-BE49-F238E27FC236}">
                <a16:creationId xmlns:a16="http://schemas.microsoft.com/office/drawing/2014/main" id="{39231D9B-6211-4FCA-B0A1-C3E8D65A5625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C00000"/>
              </a:buClr>
              <a:buFont typeface="Wingdings 2" panose="05020102010507070707" pitchFamily="18" charset="2"/>
              <a:buChar char="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1410FFA-C283-428E-8B07-2311B2610812}" type="slidenum">
              <a:rPr lang="ca-ES" altLang="ca-ES">
                <a:solidFill>
                  <a:srgbClr val="898989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ca-ES" altLang="ca-ES">
              <a:solidFill>
                <a:srgbClr val="898989"/>
              </a:solidFill>
            </a:endParaRPr>
          </a:p>
        </p:txBody>
      </p:sp>
      <p:pic>
        <p:nvPicPr>
          <p:cNvPr id="3" name="Contenidor de contingut 2">
            <a:extLst>
              <a:ext uri="{FF2B5EF4-FFF2-40B4-BE49-F238E27FC236}">
                <a16:creationId xmlns:a16="http://schemas.microsoft.com/office/drawing/2014/main" id="{496EC4D9-7834-4257-B943-AF903A0691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6093296"/>
            <a:ext cx="3677994" cy="645578"/>
          </a:xfrm>
        </p:spPr>
      </p:pic>
      <p:sp>
        <p:nvSpPr>
          <p:cNvPr id="24" name="QuadreDeText 10">
            <a:extLst>
              <a:ext uri="{FF2B5EF4-FFF2-40B4-BE49-F238E27FC236}">
                <a16:creationId xmlns:a16="http://schemas.microsoft.com/office/drawing/2014/main" id="{99840EA6-04CB-4352-8838-0A7C6AF0609C}"/>
              </a:ext>
            </a:extLst>
          </p:cNvPr>
          <p:cNvSpPr txBox="1"/>
          <p:nvPr/>
        </p:nvSpPr>
        <p:spPr>
          <a:xfrm>
            <a:off x="395536" y="1181065"/>
            <a:ext cx="856895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Tramuntana</a:t>
            </a:r>
            <a:r>
              <a:rPr lang="en-CA" dirty="0"/>
              <a:t> is a hegemonic wind in the </a:t>
            </a:r>
            <a:r>
              <a:rPr lang="en-CA" dirty="0" err="1"/>
              <a:t>Empordà</a:t>
            </a:r>
            <a:r>
              <a:rPr lang="en-CA" dirty="0"/>
              <a:t> region (1 of 3 days).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r>
              <a:rPr lang="en-CA" dirty="0"/>
              <a:t>Obvious impact on water los due to </a:t>
            </a:r>
            <a:r>
              <a:rPr lang="en-CA" dirty="0" err="1"/>
              <a:t>ETo</a:t>
            </a:r>
            <a:endParaRPr lang="en-CA" dirty="0"/>
          </a:p>
          <a:p>
            <a:endParaRPr lang="en-CA" dirty="0"/>
          </a:p>
          <a:p>
            <a:r>
              <a:rPr lang="en-CA" dirty="0"/>
              <a:t>3 synoptic patterns responsible for the north wind, winter regime.</a:t>
            </a:r>
          </a:p>
          <a:p>
            <a:endParaRPr lang="en-CA" dirty="0"/>
          </a:p>
          <a:p>
            <a:r>
              <a:rPr lang="en-CA" dirty="0"/>
              <a:t>The simulations (9 models, CMIP5) of the patterns in historical period </a:t>
            </a:r>
            <a:r>
              <a:rPr lang="en-CA" dirty="0" err="1"/>
              <a:t>capturate</a:t>
            </a:r>
            <a:r>
              <a:rPr lang="en-CA" dirty="0"/>
              <a:t> quite well observations.</a:t>
            </a:r>
          </a:p>
          <a:p>
            <a:endParaRPr lang="en-CA" dirty="0"/>
          </a:p>
          <a:p>
            <a:pPr lvl="0"/>
            <a:r>
              <a:rPr lang="en-US" dirty="0"/>
              <a:t>Downward trend of northerly episodes in the RCP 8.5 scenario (most unfavorable scenario). In contrast, in CPR 4.5 the trend is almost zero.</a:t>
            </a:r>
          </a:p>
          <a:p>
            <a:pPr lvl="0"/>
            <a:endParaRPr lang="en-CA" dirty="0"/>
          </a:p>
          <a:p>
            <a:pPr lvl="0"/>
            <a:r>
              <a:rPr lang="en-US" dirty="0"/>
              <a:t>Some change in the temporal pattern (RCP 8.5): a clear decrease in winter and an increase in spring (March and April) and, to a lesser extent, in autumn.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125979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ol 1">
            <a:extLst>
              <a:ext uri="{FF2B5EF4-FFF2-40B4-BE49-F238E27FC236}">
                <a16:creationId xmlns:a16="http://schemas.microsoft.com/office/drawing/2014/main" id="{87832F86-5FED-4835-A8C7-BFB345636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ca-ES" dirty="0"/>
              <a:t>3. Conclusions</a:t>
            </a:r>
          </a:p>
        </p:txBody>
      </p:sp>
      <p:sp>
        <p:nvSpPr>
          <p:cNvPr id="7172" name="Contenidor de número de diapositiva 4">
            <a:extLst>
              <a:ext uri="{FF2B5EF4-FFF2-40B4-BE49-F238E27FC236}">
                <a16:creationId xmlns:a16="http://schemas.microsoft.com/office/drawing/2014/main" id="{39231D9B-6211-4FCA-B0A1-C3E8D65A5625}"/>
              </a:ext>
            </a:extLst>
          </p:cNvPr>
          <p:cNvSpPr>
            <a:spLocks noGrp="1" noChangeArrowheads="1"/>
          </p:cNvSpPr>
          <p:nvPr>
            <p:ph type="sldNum" sz="quarter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C00000"/>
              </a:buClr>
              <a:buFont typeface="Wingdings 2" panose="05020102010507070707" pitchFamily="18" charset="2"/>
              <a:buChar char="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1410FFA-C283-428E-8B07-2311B2610812}" type="slidenum">
              <a:rPr lang="ca-ES" altLang="ca-ES">
                <a:solidFill>
                  <a:srgbClr val="898989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ca-ES" altLang="ca-ES">
              <a:solidFill>
                <a:srgbClr val="898989"/>
              </a:solidFill>
            </a:endParaRPr>
          </a:p>
        </p:txBody>
      </p:sp>
      <p:pic>
        <p:nvPicPr>
          <p:cNvPr id="3" name="Contenidor de contingut 2">
            <a:extLst>
              <a:ext uri="{FF2B5EF4-FFF2-40B4-BE49-F238E27FC236}">
                <a16:creationId xmlns:a16="http://schemas.microsoft.com/office/drawing/2014/main" id="{496EC4D9-7834-4257-B943-AF903A0691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6093296"/>
            <a:ext cx="3677994" cy="645578"/>
          </a:xfrm>
        </p:spPr>
      </p:pic>
      <p:sp>
        <p:nvSpPr>
          <p:cNvPr id="24" name="QuadreDeText 10">
            <a:extLst>
              <a:ext uri="{FF2B5EF4-FFF2-40B4-BE49-F238E27FC236}">
                <a16:creationId xmlns:a16="http://schemas.microsoft.com/office/drawing/2014/main" id="{99840EA6-04CB-4352-8838-0A7C6AF0609C}"/>
              </a:ext>
            </a:extLst>
          </p:cNvPr>
          <p:cNvSpPr txBox="1"/>
          <p:nvPr/>
        </p:nvSpPr>
        <p:spPr>
          <a:xfrm>
            <a:off x="287522" y="4748951"/>
            <a:ext cx="85689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reason</a:t>
            </a:r>
            <a:r>
              <a:rPr lang="en-US" dirty="0"/>
              <a:t>: the increase in global temperature and a lower presence of jet stream. Paleo-climatic models have observed that during periods of warming in the northern hemisphere the jet stream moves to high latitudes, and vice versa when cooling occurs: migration of the jet stream to high latitudes, and the northern flows are less likely.</a:t>
            </a:r>
            <a:endParaRPr lang="en-CA" dirty="0"/>
          </a:p>
        </p:txBody>
      </p:sp>
      <p:pic>
        <p:nvPicPr>
          <p:cNvPr id="1026" name="Picture 2" descr="Climate Change &amp; The Jet Stream">
            <a:extLst>
              <a:ext uri="{FF2B5EF4-FFF2-40B4-BE49-F238E27FC236}">
                <a16:creationId xmlns:a16="http://schemas.microsoft.com/office/drawing/2014/main" id="{64BFAE6C-61A2-47EF-AC40-F0D5BB42E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222" y="1282303"/>
            <a:ext cx="5995553" cy="3370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67010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15888"/>
            <a:ext cx="2268538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tge 3" descr="&#10;&#10;Descripció generada automàticament">
            <a:extLst>
              <a:ext uri="{FF2B5EF4-FFF2-40B4-BE49-F238E27FC236}">
                <a16:creationId xmlns:a16="http://schemas.microsoft.com/office/drawing/2014/main" id="{72094C88-3287-4006-95D7-67EDD43760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797854"/>
            <a:ext cx="8532440" cy="4799498"/>
          </a:xfrm>
          <a:prstGeom prst="rect">
            <a:avLst/>
          </a:prstGeom>
        </p:spPr>
      </p:pic>
      <p:sp>
        <p:nvSpPr>
          <p:cNvPr id="5" name="QuadreDeText 4">
            <a:extLst>
              <a:ext uri="{FF2B5EF4-FFF2-40B4-BE49-F238E27FC236}">
                <a16:creationId xmlns:a16="http://schemas.microsoft.com/office/drawing/2014/main" id="{247BBC96-EA9B-46A7-BA28-7ABF1A386926}"/>
              </a:ext>
            </a:extLst>
          </p:cNvPr>
          <p:cNvSpPr txBox="1"/>
          <p:nvPr/>
        </p:nvSpPr>
        <p:spPr>
          <a:xfrm>
            <a:off x="6732240" y="6228020"/>
            <a:ext cx="2164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>
                <a:solidFill>
                  <a:schemeClr val="bg1"/>
                </a:solidFill>
              </a:rPr>
              <a:t>Author</a:t>
            </a:r>
            <a:r>
              <a:rPr lang="ca-ES" dirty="0">
                <a:solidFill>
                  <a:schemeClr val="bg1"/>
                </a:solidFill>
              </a:rPr>
              <a:t>: Fran Lorenzo</a:t>
            </a:r>
          </a:p>
        </p:txBody>
      </p:sp>
      <p:sp>
        <p:nvSpPr>
          <p:cNvPr id="6" name="QuadreDeText 5">
            <a:extLst>
              <a:ext uri="{FF2B5EF4-FFF2-40B4-BE49-F238E27FC236}">
                <a16:creationId xmlns:a16="http://schemas.microsoft.com/office/drawing/2014/main" id="{D55CED76-DD61-49B9-B53B-6B4F83230493}"/>
              </a:ext>
            </a:extLst>
          </p:cNvPr>
          <p:cNvSpPr txBox="1"/>
          <p:nvPr/>
        </p:nvSpPr>
        <p:spPr>
          <a:xfrm>
            <a:off x="3131840" y="1124744"/>
            <a:ext cx="2562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800" b="1" dirty="0"/>
              <a:t>MANY THANKS!</a:t>
            </a:r>
          </a:p>
        </p:txBody>
      </p:sp>
    </p:spTree>
    <p:extLst>
      <p:ext uri="{BB962C8B-B14F-4D97-AF65-F5344CB8AC3E}">
        <p14:creationId xmlns:p14="http://schemas.microsoft.com/office/powerpoint/2010/main" val="24112676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l'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o_imatgepropia_logoSMC (1)  -  Mode de compatibilitat" id="{350E0046-580F-4E78-ADA4-92DADFCF7D4B}" vid="{76FC81D5-DAB7-49B8-BEBD-F0B0B5E5B357}"/>
    </a:ext>
  </a:extLst>
</a:theme>
</file>

<file path=ppt/theme/theme2.xml><?xml version="1.0" encoding="utf-8"?>
<a:theme xmlns:a="http://schemas.openxmlformats.org/drawingml/2006/main" name="Tema de l'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presentacio_ppt Centenari SMC</Template>
  <TotalTime>423</TotalTime>
  <Words>1482</Words>
  <Application>Microsoft Office PowerPoint</Application>
  <PresentationFormat>Presentación en pantalla (4:3)</PresentationFormat>
  <Paragraphs>165</Paragraphs>
  <Slides>20</Slides>
  <Notes>2</Notes>
  <HiddenSlides>1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7" baseType="lpstr">
      <vt:lpstr>Arial</vt:lpstr>
      <vt:lpstr>Calibri</vt:lpstr>
      <vt:lpstr>Courier New</vt:lpstr>
      <vt:lpstr>Helvetica</vt:lpstr>
      <vt:lpstr>Wingdings</vt:lpstr>
      <vt:lpstr>Wingdings 2</vt:lpstr>
      <vt:lpstr>Tema de l'Office</vt:lpstr>
      <vt:lpstr>Evolution of synoptic patterns associated with north wind episodes (tramuntana) in northeastern Catalonia throughout the 21st century</vt:lpstr>
      <vt:lpstr>The CLIMAVIT 21 project</vt:lpstr>
      <vt:lpstr>The CLIMAVIT 21 project</vt:lpstr>
      <vt:lpstr>Why analyze the Tramuntana?</vt:lpstr>
      <vt:lpstr>1. Identification of tramuntana episodes (1998-2019)</vt:lpstr>
      <vt:lpstr>1. Identification of tramuntana episodes (1998-2019)</vt:lpstr>
      <vt:lpstr>1. Identification of tramuntana episodes (1998-2019)</vt:lpstr>
      <vt:lpstr>2. Projection of tramuntana patterns (2006-2100)</vt:lpstr>
      <vt:lpstr>2. Projection of tramuntana patterns (2006-2100)</vt:lpstr>
      <vt:lpstr>2. Projection of tramuntana patterns (2006-2100)</vt:lpstr>
      <vt:lpstr>2. Projection of tramuntana patterns (2006-2100)</vt:lpstr>
      <vt:lpstr>2. Projection of tramuntana patterns (2006-2100)</vt:lpstr>
      <vt:lpstr>2. Projection of tramuntana patterns (2006-2100)</vt:lpstr>
      <vt:lpstr>2. Projection of tramuntana patterns (2006-2100)</vt:lpstr>
      <vt:lpstr>2. Projection of tramuntana patterns (2006-2100)</vt:lpstr>
      <vt:lpstr>2. Projection of tramuntana patterns (2006-2100)</vt:lpstr>
      <vt:lpstr>2. Projection of tramuntana patterns (2006-2100)</vt:lpstr>
      <vt:lpstr>3. Conclusions</vt:lpstr>
      <vt:lpstr>3. Conclusions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 del PowerPoint</dc:title>
  <dc:creator>Marc Prohom Duran</dc:creator>
  <cp:lastModifiedBy>Marc </cp:lastModifiedBy>
  <cp:revision>36</cp:revision>
  <cp:lastPrinted>2011-04-20T15:22:35Z</cp:lastPrinted>
  <dcterms:created xsi:type="dcterms:W3CDTF">2021-04-22T07:03:53Z</dcterms:created>
  <dcterms:modified xsi:type="dcterms:W3CDTF">2021-05-25T12:54:21Z</dcterms:modified>
</cp:coreProperties>
</file>